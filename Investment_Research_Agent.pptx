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127147-e7bf-443e-3f77-60c6b0f1dca6}">
          <p14:sldIdLst>
            <p14:sldId id="256"/>
          </p14:sldIdLst>
        </p14:section>
        <p14:section name="Context" id="{c94bfa2c-b4e4-f7e6-7ac8-9d9b0499afba}">
          <p14:sldIdLst>
            <p14:sldId id="257"/>
            <p14:sldId id="258"/>
          </p14:sldIdLst>
        </p14:section>
        <p14:section name="Build" id="{0841a5d6-a573-9a86-324f-d4e7149ad82f}">
          <p14:sldIdLst>
            <p14:sldId id="259"/>
            <p14:sldId id="260"/>
            <p14:sldId id="261"/>
            <p14:sldId id="262"/>
            <p14:sldId id="263"/>
          </p14:sldIdLst>
        </p14:section>
        <p14:section name="Agent" id="{b0e7fafe-9f9f-ddbe-d2a5-11554e392c72}">
          <p14:sldIdLst>
            <p14:sldId id="264"/>
            <p14:sldId id="265"/>
            <p14:sldId id="266"/>
          </p14:sldIdLst>
        </p14:section>
        <p14:section name="Ship" id="{cb0a0ffa-0689-f689-1a58-ab35d39f1924}">
          <p14:sldIdLst>
            <p14:sldId id="267"/>
            <p14:sldId id="268"/>
            <p14:sldId id="269"/>
          </p14:sldIdLst>
        </p14:section>
        <p14:section name="Wrap-up" id="{1887fcb3-d9a9-5d0e-32c5-512d417a7a2a}">
          <p14:sldIdLst>
            <p14:sldId id="270"/>
            <p14:sldId id="279"/>
          </p14:sldIdLst>
        </p14:section>
        <p14:section name="Code" id="{44fb4f85-4ac1-0241-1c7b-ee5fc73f8754}">
          <p14:sldIdLst>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this is Track 2 (Finance). We built a personal investment research agent. Two big ideas: (1) it can read static financial documents such as annual reports using RAG, and (2) it can call live tools for stock price and news. The agent decides which one to use, and always labels the source of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gap. An annual report gives audited numbers but they describe a past period. A live API gives today's price but no business context. And in finance, units matter: INR crores versus USD millions. If an agent mixes them, every number is wrong. So our goal is an agent that picks the right source and states the unit and the source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behaviour. Left: live tools for price and news. Right: documents retrieved with RAG. The agent can use either or both, then merges them into one answer. The key judging point is that the answer says which source each number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user types in Gradio. The agent, powered by a local Ollama model, decides which tools to call. Two tools hit Yahoo Finance for live data; one tool queries the Chroma vector database. The bottom row is the offline step: we load documents, split them, embed them, and store them once so retrieval is fast at question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and runs locally except the Yahoo Finance data call. Ollama keeps the project free and offline-capable. LangChain gives us the standard building blocks the workshop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a sanity check: get a ChatOllama call working before building anything else. Use temperature 0 so the model is deterministic, which is important when it reports numbers. Step 2: PyPDFLoader creates one Document per page and records the file name and page number in metadata. We reuse that metadata later to cite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tuning step for finance. Financial reports are full of tables. If the splitter cuts between a row label and its value, the retriever can return a number with no label and the model will answer nonsense. We use a larger chunk size, an overlap, and separators that prefer paragraph and line breaks. Always inspect real chunks from your own PDF and adjust.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convert text into vectors so we can search by meaning. Chroma stores those vectors on disk. The retriever takes a question, embeds it, and returns the k=3 nearest chunks. The workshop rule says: confirm the retriever really returns the right section for a numeric question before building the agent. If it does not, go back and fix chunking.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function is decorated with @tool. The docstring is what the LLM reads to decide when to use the tool, so we put the units and the data type (LIVE or STATIC) right in it. The tool outputs also begin with a SOURCE tag, so even the observation text tells the model where the data came from. That is how the agent can reliably label its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create_agent builds a ReAct-style loop: the model reasons about what it needs, acts by calling a tool, observes the result, and repeats until it can answer. The system prompt is where we control behaviour. It forces the four-step sequence: classify, call, combine, label. It also forbids inventing numbers and requires the not-financial-advice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query to show the judges. A single question needs two different sources. The agent first reasons that it needs both, calls the document tool for the reported net profit in INR crores, then the price tool for the live price in INR per share, and finally writes one answer that labels each number. This directly shows correct tool sequencing and live-versus-static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is wrapped in a Gradio ChatInterface. We convert the chat history to messages and send it to the agent so follow-up questions work. The disclaimer is shown at both the top and bottom of the page, as required by the rules. Run python app.py to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optional bonus scope. We moved the same three tools behind a FastMCP server on port 8001. The agent no longer imports the tools. Instead it connects with MultiServerMCPClient and loads them at runtime. The benefit is that any other MCP-compatible client can reuse the same finance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judging criterion to a concrete design decision. Live versus static: source tags and prompt rules. Numeric accuracy: chunk size and overlap tuned, retriever tested before agent. Tool sequencing: explicit steps in the system prompt, shown in the example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 was hard. Chunking tables was the biggest accuracy lever. Next steps are mainly about measurement and richer tools: a numeric test set, better table parsing, and extra tools such as ratios and currency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whole Python project. Seven small files, each owning one pipeline stage. To run it: install requirements, pull the two Ollama models, drop a PDF in the data folder, build the index with ingest.py, check retrieval with the --test flag, then launch the Gradio app. The two bonus files run the MCP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every PDF or text file in the data folder. PyPDFLoader keeps source and page metadata. The splitter uses chunk size 1200 and overlap 250 so a row label stays with its number. Chroma.from_documents embeds all chunks with nomic-embed-text and saves them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retriever reopens the saved Chroma store and returns the 3 closest chunks. The test function prints each chunk with file and page so you can confirm the right section comes back for a numeric question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live tools are decorated with @tool. The docstring is what the model reads, so it states the ticker format, the currency and that the price is per share. The returned text starts with a SOURCE tag so the agent can label the number in its answer. The project file also wraps each call in try/except.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tool wraps the retriever. It returns each passage with its file name and page number, tagged STATIC DOCUMENT. The docstring warns that figures are in the document's own units and period, not today's values. The TOOLS list is imported directly by 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enforces the sequence: classify the question, call the right tools, combine, then label every number with its source and unit. The agent is created in one line with create_agent. The ask function sends the chat messages and returns the final message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Gradio app converts the chat history into message dictionaries and passes them to the agent, so follow-up questions work. The disclaimer is shown above and below the chat, as the hackathon rules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registers the same three functions as MCP tools on port 8001. The client connects with MultiServerMCPClient, fetches the tools at runtime and builds the same agent. Because MCP tools are async, the agent is called with ainvoke.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switch to the live demo. Start with a document-only question, then a live-only question, then the combined question to show both tools being sequenced. Mention the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4864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TRACK 2 · FINANCE · 1-DAY HACKATHON</a:t>
            </a:r>
            <a:endParaRPr lang="en-US" sz="1400" dirty="0"/>
          </a:p>
        </p:txBody>
      </p:sp>
      <p:sp>
        <p:nvSpPr>
          <p:cNvPr id="3" name="title"/>
          <p:cNvSpPr txBox="1"/>
          <p:nvPr/>
        </p:nvSpPr>
        <p:spPr>
          <a:xfrm>
            <a:off x="548640" y="1234440"/>
            <a:ext cx="5486400" cy="1554480"/>
          </a:xfrm>
          <a:prstGeom prst="rect">
            <a:avLst/>
          </a:prstGeom>
          <a:noFill/>
          <a:ln/>
        </p:spPr>
        <p:txBody>
          <a:bodyPr wrap="square" lIns="0" tIns="0" rIns="0" bIns="0" rtlCol="0" anchor="t"/>
          <a:lstStyle/>
          <a:p>
            <a:pPr algn="l" indent="0" marL="0">
              <a:buNone/>
            </a:pPr>
            <a:r>
              <a:rPr lang="en-US" sz="3800" b="1" dirty="0">
                <a:solidFill>
                  <a:schemeClr val="bg1"/>
                </a:solidFill>
                <a:latin typeface="+mj-lt" pitchFamily="34" charset="0"/>
                <a:ea typeface="+mj-lt" pitchFamily="34" charset="-122"/>
                <a:cs typeface="+mj-lt" pitchFamily="34" charset="-120"/>
              </a:rPr>
              <a:t>Personal Investment Research Agent</a:t>
            </a:r>
            <a:endParaRPr lang="en-US" sz="3800" dirty="0"/>
          </a:p>
        </p:txBody>
      </p:sp>
      <p:sp>
        <p:nvSpPr>
          <p:cNvPr id="4" name="Text 2"/>
          <p:cNvSpPr txBox="1"/>
          <p:nvPr/>
        </p:nvSpPr>
        <p:spPr>
          <a:xfrm>
            <a:off x="548640" y="3017520"/>
            <a:ext cx="5303520" cy="1097280"/>
          </a:xfrm>
          <a:prstGeom prst="rect">
            <a:avLst/>
          </a:prstGeom>
          <a:noFill/>
          <a:ln/>
        </p:spPr>
        <p:txBody>
          <a:bodyPr wrap="square" lIns="0" tIns="0" rIns="0" bIns="0" rtlCol="0" anchor="t"/>
          <a:lstStyle/>
          <a:p>
            <a:pPr indent="0" marL="0">
              <a:buNone/>
            </a:pPr>
            <a:r>
              <a:rPr lang="en-US" sz="1600" dirty="0">
                <a:solidFill>
                  <a:schemeClr val="accent6"/>
                </a:solidFill>
              </a:rPr>
              <a:t>A RAG + tool-calling ReAct agent that answers from financial documents and live market data, and always tells you which source a number came from.</a:t>
            </a:r>
            <a:endParaRPr lang="en-US" sz="1600" dirty="0"/>
          </a:p>
        </p:txBody>
      </p:sp>
      <p:sp>
        <p:nvSpPr>
          <p:cNvPr id="5" name="Text 3"/>
          <p:cNvSpPr txBox="1"/>
          <p:nvPr/>
        </p:nvSpPr>
        <p:spPr>
          <a:xfrm>
            <a:off x="548640" y="3931920"/>
            <a:ext cx="5486400" cy="320040"/>
          </a:xfrm>
          <a:prstGeom prst="rect">
            <a:avLst/>
          </a:prstGeom>
          <a:noFill/>
          <a:ln/>
        </p:spPr>
        <p:txBody>
          <a:bodyPr wrap="square" lIns="0" tIns="0" rIns="0" bIns="0" rtlCol="0" anchor="t"/>
          <a:lstStyle/>
          <a:p>
            <a:pPr indent="0" marL="0">
              <a:buNone/>
            </a:pPr>
            <a:r>
              <a:rPr lang="en-US" sz="1800" b="1" dirty="0">
                <a:solidFill>
                  <a:schemeClr val="accent2"/>
                </a:solidFill>
              </a:rPr>
              <a:t>Team Krazy Coder</a:t>
            </a:r>
            <a:endParaRPr lang="en-US" sz="1800" dirty="0"/>
          </a:p>
        </p:txBody>
      </p:sp>
      <p:sp>
        <p:nvSpPr>
          <p:cNvPr id="6" name="Text 4"/>
          <p:cNvSpPr txBox="1"/>
          <p:nvPr/>
        </p:nvSpPr>
        <p:spPr>
          <a:xfrm>
            <a:off x="548640" y="4297680"/>
            <a:ext cx="5669280" cy="320040"/>
          </a:xfrm>
          <a:prstGeom prst="rect">
            <a:avLst/>
          </a:prstGeom>
          <a:noFill/>
          <a:ln/>
        </p:spPr>
        <p:txBody>
          <a:bodyPr wrap="square" lIns="0" tIns="0" rIns="0" bIns="0" rtlCol="0" anchor="t"/>
          <a:lstStyle/>
          <a:p>
            <a:pPr indent="0" marL="0">
              <a:buNone/>
            </a:pPr>
            <a:r>
              <a:rPr lang="en-US" sz="1400" dirty="0">
                <a:solidFill>
                  <a:schemeClr val="bg1"/>
                </a:solidFill>
              </a:rPr>
              <a:t>Tshewang Kinley Rigzin  ·  Adesh Singh  ·  Jigme Tenzin</a:t>
            </a:r>
            <a:endParaRPr lang="en-US" sz="1400" dirty="0"/>
          </a:p>
        </p:txBody>
      </p:sp>
      <p:sp>
        <p:nvSpPr>
          <p:cNvPr id="7" name="hero-circle"/>
          <p:cNvSpPr/>
          <p:nvPr/>
        </p:nvSpPr>
        <p:spPr>
          <a:xfrm>
            <a:off x="6400800" y="1097280"/>
            <a:ext cx="2377440" cy="2377440"/>
          </a:xfrm>
          <a:prstGeom prst="ellipse">
            <a:avLst/>
          </a:prstGeom>
          <a:solidFill>
            <a:schemeClr val="accent1"/>
          </a:solidFill>
          <a:ln/>
        </p:spPr>
      </p:sp>
      <p:sp>
        <p:nvSpPr>
          <p:cNvPr id="8" name="hero-circle-small"/>
          <p:cNvSpPr/>
          <p:nvPr/>
        </p:nvSpPr>
        <p:spPr>
          <a:xfrm>
            <a:off x="7223760" y="3017520"/>
            <a:ext cx="1371600" cy="1371600"/>
          </a:xfrm>
          <a:prstGeom prst="ellipse">
            <a:avLst/>
          </a:prstGeom>
          <a:solidFill>
            <a:schemeClr val="accent2"/>
          </a:solidFill>
          <a:ln/>
        </p:spPr>
      </p:sp>
      <p:pic>
        <p:nvPicPr>
          <p:cNvPr id="9" name="Image 0" descr="chart icon">    </p:cNvPr>
          <p:cNvPicPr>
            <a:picLocks noChangeAspect="1"/>
          </p:cNvPicPr>
          <p:nvPr/>
        </p:nvPicPr>
        <p:blipFill>
          <a:blip r:embed="rId1"/>
          <a:stretch>
            <a:fillRect/>
          </a:stretch>
        </p:blipFill>
        <p:spPr>
          <a:xfrm>
            <a:off x="6995160" y="1691640"/>
            <a:ext cx="1188720" cy="1188720"/>
          </a:xfrm>
          <a:prstGeom prst="rect">
            <a:avLst/>
          </a:prstGeom>
        </p:spPr>
      </p:pic>
      <p:pic>
        <p:nvPicPr>
          <p:cNvPr id="10" name="Image 1" descr="coins icon">    </p:cNvPr>
          <p:cNvPicPr>
            <a:picLocks noChangeAspect="1"/>
          </p:cNvPicPr>
          <p:nvPr/>
        </p:nvPicPr>
        <p:blipFill>
          <a:blip r:embed="rId2"/>
          <a:stretch>
            <a:fillRect/>
          </a:stretch>
        </p:blipFill>
        <p:spPr>
          <a:xfrm>
            <a:off x="7589520" y="338328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Why this agent is needed</a:t>
            </a:r>
            <a:endParaRPr lang="en-US" sz="3200" dirty="0"/>
          </a:p>
        </p:txBody>
      </p:sp>
      <p:sp>
        <p:nvSpPr>
          <p:cNvPr id="3" name="problem-card"/>
          <p:cNvSpPr/>
          <p:nvPr/>
        </p:nvSpPr>
        <p:spPr>
          <a:xfrm>
            <a:off x="457200" y="1280160"/>
            <a:ext cx="2560320" cy="2423160"/>
          </a:xfrm>
          <a:prstGeom prst="roundRect">
            <a:avLst>
              <a:gd name="adj" fmla="val 452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685800" y="1463040"/>
            <a:ext cx="594360" cy="594360"/>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834390" y="1611630"/>
            <a:ext cx="297180" cy="297180"/>
          </a:xfrm>
          <a:prstGeom prst="rect">
            <a:avLst/>
          </a:prstGeom>
        </p:spPr>
      </p:pic>
      <p:sp>
        <p:nvSpPr>
          <p:cNvPr id="6" name="Text 3"/>
          <p:cNvSpPr txBox="1"/>
          <p:nvPr/>
        </p:nvSpPr>
        <p:spPr>
          <a:xfrm>
            <a:off x="685800" y="2194560"/>
            <a:ext cx="2148840" cy="640080"/>
          </a:xfrm>
          <a:prstGeom prst="rect">
            <a:avLst/>
          </a:prstGeom>
          <a:noFill/>
          <a:ln/>
        </p:spPr>
        <p:txBody>
          <a:bodyPr wrap="square" lIns="0" tIns="0" rIns="0" bIns="0" rtlCol="0" anchor="t"/>
          <a:lstStyle/>
          <a:p>
            <a:pPr indent="0" marL="0">
              <a:buNone/>
            </a:pPr>
            <a:r>
              <a:rPr lang="en-US" sz="1700" b="1" dirty="0">
                <a:solidFill>
                  <a:schemeClr val="tx2"/>
                </a:solidFill>
              </a:rPr>
              <a:t>Documents are accurate but old</a:t>
            </a:r>
            <a:endParaRPr lang="en-US" sz="1700" dirty="0"/>
          </a:p>
        </p:txBody>
      </p:sp>
      <p:sp>
        <p:nvSpPr>
          <p:cNvPr id="7" name="Text 4"/>
          <p:cNvSpPr txBox="1"/>
          <p:nvPr/>
        </p:nvSpPr>
        <p:spPr>
          <a:xfrm>
            <a:off x="685800" y="2834640"/>
            <a:ext cx="2148840" cy="822960"/>
          </a:xfrm>
          <a:prstGeom prst="rect">
            <a:avLst/>
          </a:prstGeom>
          <a:noFill/>
          <a:ln/>
        </p:spPr>
        <p:txBody>
          <a:bodyPr wrap="square" lIns="0" tIns="0" rIns="0" bIns="0" rtlCol="0" anchor="t"/>
          <a:lstStyle/>
          <a:p>
            <a:pPr indent="0" marL="0">
              <a:buNone/>
            </a:pPr>
            <a:r>
              <a:rPr lang="en-US" sz="1400" dirty="0">
                <a:solidFill>
                  <a:schemeClr val="tx1"/>
                </a:solidFill>
              </a:rPr>
              <a:t>Annual reports and fact sheets hold audited figures, but only for a past period.</a:t>
            </a:r>
            <a:endParaRPr lang="en-US" sz="1400" dirty="0"/>
          </a:p>
        </p:txBody>
      </p:sp>
      <p:sp>
        <p:nvSpPr>
          <p:cNvPr id="8" name="problem-card"/>
          <p:cNvSpPr/>
          <p:nvPr/>
        </p:nvSpPr>
        <p:spPr>
          <a:xfrm>
            <a:off x="3291840" y="1280160"/>
            <a:ext cx="2560320" cy="2423160"/>
          </a:xfrm>
          <a:prstGeom prst="roundRect">
            <a:avLst>
              <a:gd name="adj" fmla="val 452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3520440" y="1463040"/>
            <a:ext cx="594360" cy="594360"/>
          </a:xfrm>
          <a:prstGeom prst="ellipse">
            <a:avLst/>
          </a:prstGeom>
          <a:solidFill>
            <a:schemeClr val="accent5"/>
          </a:solidFill>
          <a:ln/>
        </p:spPr>
      </p:sp>
      <p:pic>
        <p:nvPicPr>
          <p:cNvPr id="10" name="Image 1" descr="icon">    </p:cNvPr>
          <p:cNvPicPr>
            <a:picLocks noChangeAspect="1"/>
          </p:cNvPicPr>
          <p:nvPr/>
        </p:nvPicPr>
        <p:blipFill>
          <a:blip r:embed="rId2"/>
          <a:stretch>
            <a:fillRect/>
          </a:stretch>
        </p:blipFill>
        <p:spPr>
          <a:xfrm>
            <a:off x="3669030" y="1611630"/>
            <a:ext cx="297180" cy="297180"/>
          </a:xfrm>
          <a:prstGeom prst="rect">
            <a:avLst/>
          </a:prstGeom>
        </p:spPr>
      </p:pic>
      <p:sp>
        <p:nvSpPr>
          <p:cNvPr id="11" name="Text 7"/>
          <p:cNvSpPr txBox="1"/>
          <p:nvPr/>
        </p:nvSpPr>
        <p:spPr>
          <a:xfrm>
            <a:off x="3520440" y="2194560"/>
            <a:ext cx="2148840" cy="640080"/>
          </a:xfrm>
          <a:prstGeom prst="rect">
            <a:avLst/>
          </a:prstGeom>
          <a:noFill/>
          <a:ln/>
        </p:spPr>
        <p:txBody>
          <a:bodyPr wrap="square" lIns="0" tIns="0" rIns="0" bIns="0" rtlCol="0" anchor="t"/>
          <a:lstStyle/>
          <a:p>
            <a:pPr indent="0" marL="0">
              <a:buNone/>
            </a:pPr>
            <a:r>
              <a:rPr lang="en-US" sz="1700" b="1" dirty="0">
                <a:solidFill>
                  <a:schemeClr val="tx2"/>
                </a:solidFill>
              </a:rPr>
              <a:t>Live data is fresh but bare</a:t>
            </a:r>
            <a:endParaRPr lang="en-US" sz="1700" dirty="0"/>
          </a:p>
        </p:txBody>
      </p:sp>
      <p:sp>
        <p:nvSpPr>
          <p:cNvPr id="12" name="Text 8"/>
          <p:cNvSpPr txBox="1"/>
          <p:nvPr/>
        </p:nvSpPr>
        <p:spPr>
          <a:xfrm>
            <a:off x="3520440" y="2834640"/>
            <a:ext cx="2148840" cy="822960"/>
          </a:xfrm>
          <a:prstGeom prst="rect">
            <a:avLst/>
          </a:prstGeom>
          <a:noFill/>
          <a:ln/>
        </p:spPr>
        <p:txBody>
          <a:bodyPr wrap="square" lIns="0" tIns="0" rIns="0" bIns="0" rtlCol="0" anchor="t"/>
          <a:lstStyle/>
          <a:p>
            <a:pPr indent="0" marL="0">
              <a:buNone/>
            </a:pPr>
            <a:r>
              <a:rPr lang="en-US" sz="1400" dirty="0">
                <a:solidFill>
                  <a:schemeClr val="tx1"/>
                </a:solidFill>
              </a:rPr>
              <a:t>A price or headline has no context: no revenue, no profit, no definition.</a:t>
            </a:r>
            <a:endParaRPr lang="en-US" sz="1400" dirty="0"/>
          </a:p>
        </p:txBody>
      </p:sp>
      <p:sp>
        <p:nvSpPr>
          <p:cNvPr id="13" name="problem-card"/>
          <p:cNvSpPr/>
          <p:nvPr/>
        </p:nvSpPr>
        <p:spPr>
          <a:xfrm>
            <a:off x="6126480" y="1280160"/>
            <a:ext cx="2560320" cy="2423160"/>
          </a:xfrm>
          <a:prstGeom prst="roundRect">
            <a:avLst>
              <a:gd name="adj" fmla="val 452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6355080" y="1463040"/>
            <a:ext cx="594360" cy="594360"/>
          </a:xfrm>
          <a:prstGeom prst="ellipse">
            <a:avLst/>
          </a:prstGeom>
          <a:solidFill>
            <a:schemeClr val="accent4"/>
          </a:solidFill>
          <a:ln/>
        </p:spPr>
      </p:sp>
      <p:pic>
        <p:nvPicPr>
          <p:cNvPr id="15" name="Image 2" descr="icon">    </p:cNvPr>
          <p:cNvPicPr>
            <a:picLocks noChangeAspect="1"/>
          </p:cNvPicPr>
          <p:nvPr/>
        </p:nvPicPr>
        <p:blipFill>
          <a:blip r:embed="rId3"/>
          <a:stretch>
            <a:fillRect/>
          </a:stretch>
        </p:blipFill>
        <p:spPr>
          <a:xfrm>
            <a:off x="6503670" y="1611630"/>
            <a:ext cx="297180" cy="297180"/>
          </a:xfrm>
          <a:prstGeom prst="rect">
            <a:avLst/>
          </a:prstGeom>
        </p:spPr>
      </p:pic>
      <p:sp>
        <p:nvSpPr>
          <p:cNvPr id="16" name="Text 11"/>
          <p:cNvSpPr txBox="1"/>
          <p:nvPr/>
        </p:nvSpPr>
        <p:spPr>
          <a:xfrm>
            <a:off x="6355080" y="2194560"/>
            <a:ext cx="2148840" cy="640080"/>
          </a:xfrm>
          <a:prstGeom prst="rect">
            <a:avLst/>
          </a:prstGeom>
          <a:noFill/>
          <a:ln/>
        </p:spPr>
        <p:txBody>
          <a:bodyPr wrap="square" lIns="0" tIns="0" rIns="0" bIns="0" rtlCol="0" anchor="t"/>
          <a:lstStyle/>
          <a:p>
            <a:pPr indent="0" marL="0">
              <a:buNone/>
            </a:pPr>
            <a:r>
              <a:rPr lang="en-US" sz="1700" b="1" dirty="0">
                <a:solidFill>
                  <a:schemeClr val="tx2"/>
                </a:solidFill>
              </a:rPr>
              <a:t>Units cause wrong answers</a:t>
            </a:r>
            <a:endParaRPr lang="en-US" sz="1700" dirty="0"/>
          </a:p>
        </p:txBody>
      </p:sp>
      <p:sp>
        <p:nvSpPr>
          <p:cNvPr id="17" name="Text 12"/>
          <p:cNvSpPr txBox="1"/>
          <p:nvPr/>
        </p:nvSpPr>
        <p:spPr>
          <a:xfrm>
            <a:off x="6355080" y="2834640"/>
            <a:ext cx="2148840" cy="822960"/>
          </a:xfrm>
          <a:prstGeom prst="rect">
            <a:avLst/>
          </a:prstGeom>
          <a:noFill/>
          <a:ln/>
        </p:spPr>
        <p:txBody>
          <a:bodyPr wrap="square" lIns="0" tIns="0" rIns="0" bIns="0" rtlCol="0" anchor="t"/>
          <a:lstStyle/>
          <a:p>
            <a:pPr indent="0" marL="0">
              <a:buNone/>
            </a:pPr>
            <a:r>
              <a:rPr lang="en-US" sz="1400" dirty="0">
                <a:solidFill>
                  <a:schemeClr val="tx1"/>
                </a:solidFill>
              </a:rPr>
              <a:t>INR vs USD and crores vs millions: one mix-up makes the whole answer wrong.</a:t>
            </a:r>
            <a:endParaRPr lang="en-US" sz="1400" dirty="0"/>
          </a:p>
        </p:txBody>
      </p:sp>
      <p:sp>
        <p:nvSpPr>
          <p:cNvPr id="18" name="goal-banner"/>
          <p:cNvSpPr/>
          <p:nvPr/>
        </p:nvSpPr>
        <p:spPr>
          <a:xfrm>
            <a:off x="457200" y="3931920"/>
            <a:ext cx="8229600" cy="640080"/>
          </a:xfrm>
          <a:prstGeom prst="roundRect">
            <a:avLst>
              <a:gd name="adj" fmla="val 14286"/>
            </a:avLst>
          </a:prstGeom>
          <a:solidFill>
            <a:schemeClr val="tx2"/>
          </a:solidFill>
          <a:ln/>
        </p:spPr>
      </p:sp>
      <p:sp>
        <p:nvSpPr>
          <p:cNvPr id="19" name="Text 14"/>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800" b="1" dirty="0">
                <a:solidFill>
                  <a:schemeClr val="bg1"/>
                </a:solidFill>
              </a:rPr>
              <a:t>Goal: one agent that knows which source to trust for which question.</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What the agent does</a:t>
            </a:r>
            <a:endParaRPr lang="en-US" sz="3200" dirty="0"/>
          </a:p>
        </p:txBody>
      </p:sp>
      <p:sp>
        <p:nvSpPr>
          <p:cNvPr id="3" name="live-card"/>
          <p:cNvSpPr/>
          <p:nvPr/>
        </p:nvSpPr>
        <p:spPr>
          <a:xfrm>
            <a:off x="457200" y="1280160"/>
            <a:ext cx="3977640" cy="2011680"/>
          </a:xfrm>
          <a:prstGeom prst="roundRect">
            <a:avLst>
              <a:gd name="adj" fmla="val 5455"/>
            </a:avLst>
          </a:prstGeom>
          <a:solidFill>
            <a:schemeClr val="bg2"/>
          </a:solidFill>
          <a:ln/>
        </p:spPr>
      </p:sp>
      <p:sp>
        <p:nvSpPr>
          <p:cNvPr id="4" name="icon-circle"/>
          <p:cNvSpPr/>
          <p:nvPr/>
        </p:nvSpPr>
        <p:spPr>
          <a:xfrm>
            <a:off x="685800" y="1463040"/>
            <a:ext cx="548640" cy="548640"/>
          </a:xfrm>
          <a:prstGeom prst="ellipse">
            <a:avLst/>
          </a:prstGeom>
          <a:solidFill>
            <a:schemeClr val="accent5"/>
          </a:solidFill>
          <a:ln/>
        </p:spPr>
      </p:sp>
      <p:pic>
        <p:nvPicPr>
          <p:cNvPr id="5" name="Image 0" descr="icon">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1325880" y="1463040"/>
            <a:ext cx="2926080" cy="548640"/>
          </a:xfrm>
          <a:prstGeom prst="rect">
            <a:avLst/>
          </a:prstGeom>
          <a:noFill/>
          <a:ln/>
        </p:spPr>
        <p:txBody>
          <a:bodyPr wrap="square" lIns="0" tIns="0" rIns="0" bIns="0" rtlCol="0" anchor="ctr"/>
          <a:lstStyle/>
          <a:p>
            <a:pPr indent="0" marL="0">
              <a:buNone/>
            </a:pPr>
            <a:r>
              <a:rPr lang="en-US" sz="1800" b="1" dirty="0">
                <a:solidFill>
                  <a:schemeClr val="tx2"/>
                </a:solidFill>
              </a:rPr>
              <a:t>LIVE market data</a:t>
            </a:r>
            <a:endParaRPr lang="en-US" sz="1800" dirty="0"/>
          </a:p>
        </p:txBody>
      </p:sp>
      <p:sp>
        <p:nvSpPr>
          <p:cNvPr id="7" name="Text 4"/>
          <p:cNvSpPr txBox="1"/>
          <p:nvPr/>
        </p:nvSpPr>
        <p:spPr>
          <a:xfrm>
            <a:off x="685800" y="214884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Latest share price (with currency)</a:t>
            </a:r>
            <a:endParaRPr lang="en-US" sz="1400" dirty="0"/>
          </a:p>
          <a:p>
            <a:pPr marL="342900" indent="-342900">
              <a:spcAft>
                <a:spcPts val="400"/>
              </a:spcAft>
              <a:buSzPct val="100000"/>
              <a:buChar char="•"/>
            </a:pPr>
            <a:r>
              <a:rPr lang="en-US" sz="1400" dirty="0">
                <a:solidFill>
                  <a:schemeClr val="tx1"/>
                </a:solidFill>
              </a:rPr>
              <a:t>Recent news headlines per ticker</a:t>
            </a:r>
            <a:endParaRPr lang="en-US" sz="1400" dirty="0"/>
          </a:p>
          <a:p>
            <a:pPr marL="342900" indent="-342900">
              <a:spcAft>
                <a:spcPts val="400"/>
              </a:spcAft>
              <a:buSzPct val="100000"/>
              <a:buChar char="•"/>
            </a:pPr>
            <a:r>
              <a:rPr lang="en-US" sz="1400" dirty="0">
                <a:solidFill>
                  <a:schemeClr val="tx1"/>
                </a:solidFill>
              </a:rPr>
              <a:t>Source: Yahoo Finance via yfinance</a:t>
            </a:r>
            <a:endParaRPr lang="en-US" sz="1400" dirty="0"/>
          </a:p>
        </p:txBody>
      </p:sp>
      <p:sp>
        <p:nvSpPr>
          <p:cNvPr id="8" name="static-card"/>
          <p:cNvSpPr/>
          <p:nvPr/>
        </p:nvSpPr>
        <p:spPr>
          <a:xfrm>
            <a:off x="4709160" y="1280160"/>
            <a:ext cx="3977640" cy="2011680"/>
          </a:xfrm>
          <a:prstGeom prst="roundRect">
            <a:avLst>
              <a:gd name="adj" fmla="val 5455"/>
            </a:avLst>
          </a:prstGeom>
          <a:solidFill>
            <a:schemeClr val="bg2"/>
          </a:solidFill>
          <a:ln/>
        </p:spPr>
      </p:sp>
      <p:sp>
        <p:nvSpPr>
          <p:cNvPr id="9" name="icon-circle"/>
          <p:cNvSpPr/>
          <p:nvPr/>
        </p:nvSpPr>
        <p:spPr>
          <a:xfrm>
            <a:off x="4937760" y="1463040"/>
            <a:ext cx="548640" cy="548640"/>
          </a:xfrm>
          <a:prstGeom prst="ellipse">
            <a:avLst/>
          </a:prstGeom>
          <a:solidFill>
            <a:schemeClr val="accent1"/>
          </a:solidFill>
          <a:ln/>
        </p:spPr>
      </p:sp>
      <p:pic>
        <p:nvPicPr>
          <p:cNvPr id="10" name="Image 1" descr="icon">    </p:cNvPr>
          <p:cNvPicPr>
            <a:picLocks noChangeAspect="1"/>
          </p:cNvPicPr>
          <p:nvPr/>
        </p:nvPicPr>
        <p:blipFill>
          <a:blip r:embed="rId2"/>
          <a:stretch>
            <a:fillRect/>
          </a:stretch>
        </p:blipFill>
        <p:spPr>
          <a:xfrm>
            <a:off x="5074920" y="1600200"/>
            <a:ext cx="274320" cy="274320"/>
          </a:xfrm>
          <a:prstGeom prst="rect">
            <a:avLst/>
          </a:prstGeom>
        </p:spPr>
      </p:pic>
      <p:sp>
        <p:nvSpPr>
          <p:cNvPr id="11" name="Text 7"/>
          <p:cNvSpPr txBox="1"/>
          <p:nvPr/>
        </p:nvSpPr>
        <p:spPr>
          <a:xfrm>
            <a:off x="5577840" y="1463040"/>
            <a:ext cx="2926080" cy="548640"/>
          </a:xfrm>
          <a:prstGeom prst="rect">
            <a:avLst/>
          </a:prstGeom>
          <a:noFill/>
          <a:ln/>
        </p:spPr>
        <p:txBody>
          <a:bodyPr wrap="square" lIns="0" tIns="0" rIns="0" bIns="0" rtlCol="0" anchor="ctr"/>
          <a:lstStyle/>
          <a:p>
            <a:pPr indent="0" marL="0">
              <a:buNone/>
            </a:pPr>
            <a:r>
              <a:rPr lang="en-US" sz="1800" b="1" dirty="0">
                <a:solidFill>
                  <a:schemeClr val="tx2"/>
                </a:solidFill>
              </a:rPr>
              <a:t>STATIC document data</a:t>
            </a:r>
            <a:endParaRPr lang="en-US" sz="1800" dirty="0"/>
          </a:p>
        </p:txBody>
      </p:sp>
      <p:sp>
        <p:nvSpPr>
          <p:cNvPr id="12" name="Text 8"/>
          <p:cNvSpPr txBox="1"/>
          <p:nvPr/>
        </p:nvSpPr>
        <p:spPr>
          <a:xfrm>
            <a:off x="4937760" y="214884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Revenue, profit, ratios as reported</a:t>
            </a:r>
            <a:endParaRPr lang="en-US" sz="1400" dirty="0"/>
          </a:p>
          <a:p>
            <a:pPr marL="342900" indent="-342900">
              <a:spcAft>
                <a:spcPts val="400"/>
              </a:spcAft>
              <a:buSzPct val="100000"/>
              <a:buChar char="•"/>
            </a:pPr>
            <a:r>
              <a:rPr lang="en-US" sz="1400" dirty="0">
                <a:solidFill>
                  <a:schemeClr val="tx1"/>
                </a:solidFill>
              </a:rPr>
              <a:t>Fund fact sheets and investing guides</a:t>
            </a:r>
            <a:endParaRPr lang="en-US" sz="1400" dirty="0"/>
          </a:p>
          <a:p>
            <a:pPr marL="342900" indent="-342900">
              <a:spcAft>
                <a:spcPts val="400"/>
              </a:spcAft>
              <a:buSzPct val="100000"/>
              <a:buChar char="•"/>
            </a:pPr>
            <a:r>
              <a:rPr lang="en-US" sz="1400" dirty="0">
                <a:solidFill>
                  <a:schemeClr val="tx1"/>
                </a:solidFill>
              </a:rPr>
              <a:t>Source: PDFs retrieved from Chroma (RAG)</a:t>
            </a:r>
            <a:endParaRPr lang="en-US" sz="1400" dirty="0"/>
          </a:p>
        </p:txBody>
      </p:sp>
      <p:sp>
        <p:nvSpPr>
          <p:cNvPr id="13" name="arrow"/>
          <p:cNvSpPr/>
          <p:nvPr/>
        </p:nvSpPr>
        <p:spPr>
          <a:xfrm>
            <a:off x="2468880" y="3337560"/>
            <a:ext cx="0" cy="365760"/>
          </a:xfrm>
          <a:prstGeom prst="line">
            <a:avLst/>
          </a:prstGeom>
          <a:noFill/>
          <a:ln w="22225">
            <a:solidFill>
              <a:schemeClr val="accent5"/>
            </a:solidFill>
            <a:prstDash val="solid"/>
            <a:tailEnd type="triangle"/>
          </a:ln>
        </p:spPr>
      </p:sp>
      <p:sp>
        <p:nvSpPr>
          <p:cNvPr id="14" name="arrow"/>
          <p:cNvSpPr/>
          <p:nvPr/>
        </p:nvSpPr>
        <p:spPr>
          <a:xfrm>
            <a:off x="6675120" y="3337560"/>
            <a:ext cx="0" cy="365760"/>
          </a:xfrm>
          <a:prstGeom prst="line">
            <a:avLst/>
          </a:prstGeom>
          <a:noFill/>
          <a:ln w="22225">
            <a:solidFill>
              <a:schemeClr val="accent5"/>
            </a:solidFill>
            <a:prstDash val="solid"/>
            <a:tailEnd type="triangle"/>
          </a:ln>
        </p:spPr>
      </p:sp>
      <p:sp>
        <p:nvSpPr>
          <p:cNvPr id="15" name="combine-banner"/>
          <p:cNvSpPr/>
          <p:nvPr/>
        </p:nvSpPr>
        <p:spPr>
          <a:xfrm>
            <a:off x="457200" y="3749040"/>
            <a:ext cx="8229600" cy="822960"/>
          </a:xfrm>
          <a:prstGeom prst="roundRect">
            <a:avLst>
              <a:gd name="adj" fmla="val 11111"/>
            </a:avLst>
          </a:prstGeom>
          <a:solidFill>
            <a:schemeClr val="accent1"/>
          </a:solidFill>
          <a:ln/>
        </p:spPr>
      </p:sp>
      <p:sp>
        <p:nvSpPr>
          <p:cNvPr id="16" name="Text 12"/>
          <p:cNvSpPr txBox="1"/>
          <p:nvPr/>
        </p:nvSpPr>
        <p:spPr>
          <a:xfrm>
            <a:off x="685800" y="3749040"/>
            <a:ext cx="7772400" cy="822960"/>
          </a:xfrm>
          <a:prstGeom prst="rect">
            <a:avLst/>
          </a:prstGeom>
          <a:noFill/>
          <a:ln/>
        </p:spPr>
        <p:txBody>
          <a:bodyPr wrap="square" lIns="0" tIns="0" rIns="0" bIns="0" rtlCol="0" anchor="ctr"/>
          <a:lstStyle/>
          <a:p>
            <a:pPr indent="0" marL="0">
              <a:buNone/>
            </a:pPr>
            <a:r>
              <a:rPr lang="en-US" sz="1600" b="1" dirty="0">
                <a:solidFill>
                  <a:schemeClr val="bg1"/>
                </a:solidFill>
              </a:rPr>
              <a:t>ONE grounded answer: every number labelled (live market) or (annual report, page n) with its unit.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System architecture</a:t>
            </a:r>
            <a:endParaRPr lang="en-US" sz="3200" dirty="0"/>
          </a:p>
        </p:txBody>
      </p:sp>
      <p:sp>
        <p:nvSpPr>
          <p:cNvPr id="3" name="Text 1"/>
          <p:cNvSpPr txBox="1"/>
          <p:nvPr/>
        </p:nvSpPr>
        <p:spPr>
          <a:xfrm>
            <a:off x="457200" y="1143000"/>
            <a:ext cx="4572000" cy="274320"/>
          </a:xfrm>
          <a:prstGeom prst="rect">
            <a:avLst/>
          </a:prstGeom>
          <a:noFill/>
          <a:ln/>
        </p:spPr>
        <p:txBody>
          <a:bodyPr wrap="square" lIns="0" tIns="0" rIns="0" bIns="0" rtlCol="0" anchor="t"/>
          <a:lstStyle/>
          <a:p>
            <a:pPr indent="0" marL="0">
              <a:buNone/>
            </a:pPr>
            <a:r>
              <a:rPr lang="en-US" sz="1200" b="1" dirty="0">
                <a:solidFill>
                  <a:schemeClr val="accent5"/>
                </a:solidFill>
              </a:rPr>
              <a:t>ONLINE: answering a question</a:t>
            </a:r>
            <a:endParaRPr lang="en-US" sz="1200" dirty="0"/>
          </a:p>
        </p:txBody>
      </p:sp>
      <p:sp>
        <p:nvSpPr>
          <p:cNvPr id="4" name="node"/>
          <p:cNvSpPr/>
          <p:nvPr/>
        </p:nvSpPr>
        <p:spPr>
          <a:xfrm>
            <a:off x="457200" y="2011680"/>
            <a:ext cx="1005840" cy="731520"/>
          </a:xfrm>
          <a:prstGeom prst="roundRect">
            <a:avLst>
              <a:gd name="adj" fmla="val 12500"/>
            </a:avLst>
          </a:prstGeom>
          <a:solidFill>
            <a:schemeClr val="accent5"/>
          </a:solidFill>
          <a:ln/>
        </p:spPr>
      </p:sp>
      <p:sp>
        <p:nvSpPr>
          <p:cNvPr id="5" name="Text 3"/>
          <p:cNvSpPr txBox="1"/>
          <p:nvPr/>
        </p:nvSpPr>
        <p:spPr>
          <a:xfrm>
            <a:off x="502920" y="2011680"/>
            <a:ext cx="914400" cy="731520"/>
          </a:xfrm>
          <a:prstGeom prst="rect">
            <a:avLst/>
          </a:prstGeom>
          <a:noFill/>
          <a:ln/>
        </p:spPr>
        <p:txBody>
          <a:bodyPr wrap="square" lIns="0" tIns="0" rIns="0" bIns="0" rtlCol="0" anchor="ctr"/>
          <a:lstStyle/>
          <a:p>
            <a:pPr algn="ctr" indent="0" marL="0">
              <a:buNone/>
            </a:pPr>
            <a:r>
              <a:rPr lang="en-US" sz="1200" b="1" dirty="0">
                <a:solidFill>
                  <a:schemeClr val="bg1"/>
                </a:solidFill>
              </a:rPr>
              <a:t>User</a:t>
            </a:r>
            <a:endParaRPr lang="en-US" sz="1200" dirty="0"/>
          </a:p>
        </p:txBody>
      </p:sp>
      <p:sp>
        <p:nvSpPr>
          <p:cNvPr id="6" name="node"/>
          <p:cNvSpPr/>
          <p:nvPr/>
        </p:nvSpPr>
        <p:spPr>
          <a:xfrm>
            <a:off x="1783080" y="2011680"/>
            <a:ext cx="1188720" cy="731520"/>
          </a:xfrm>
          <a:prstGeom prst="roundRect">
            <a:avLst>
              <a:gd name="adj" fmla="val 12500"/>
            </a:avLst>
          </a:prstGeom>
          <a:solidFill>
            <a:schemeClr val="accent1"/>
          </a:solidFill>
          <a:ln/>
        </p:spPr>
      </p:sp>
      <p:sp>
        <p:nvSpPr>
          <p:cNvPr id="7" name="Text 5"/>
          <p:cNvSpPr txBox="1"/>
          <p:nvPr/>
        </p:nvSpPr>
        <p:spPr>
          <a:xfrm>
            <a:off x="1828800" y="2011680"/>
            <a:ext cx="1097280" cy="731520"/>
          </a:xfrm>
          <a:prstGeom prst="rect">
            <a:avLst/>
          </a:prstGeom>
          <a:noFill/>
          <a:ln/>
        </p:spPr>
        <p:txBody>
          <a:bodyPr wrap="square" lIns="0" tIns="0" rIns="0" bIns="0" rtlCol="0" anchor="ctr"/>
          <a:lstStyle/>
          <a:p>
            <a:pPr algn="ctr" indent="0" marL="0">
              <a:buNone/>
            </a:pPr>
            <a:r>
              <a:rPr lang="en-US" sz="1200" b="1" dirty="0">
                <a:solidFill>
                  <a:schemeClr val="bg1"/>
                </a:solidFill>
              </a:rPr>
              <a:t>Gradio UI</a:t>
            </a:r>
            <a:endParaRPr lang="en-US" sz="1200" dirty="0"/>
          </a:p>
        </p:txBody>
      </p:sp>
      <p:sp>
        <p:nvSpPr>
          <p:cNvPr id="8" name="node"/>
          <p:cNvSpPr/>
          <p:nvPr/>
        </p:nvSpPr>
        <p:spPr>
          <a:xfrm>
            <a:off x="3291840" y="1828800"/>
            <a:ext cx="1554480" cy="1097280"/>
          </a:xfrm>
          <a:prstGeom prst="roundRect">
            <a:avLst>
              <a:gd name="adj" fmla="val 8333"/>
            </a:avLst>
          </a:prstGeom>
          <a:solidFill>
            <a:schemeClr val="tx2"/>
          </a:solidFill>
          <a:ln/>
        </p:spPr>
      </p:sp>
      <p:sp>
        <p:nvSpPr>
          <p:cNvPr id="9" name="Text 7"/>
          <p:cNvSpPr txBox="1"/>
          <p:nvPr/>
        </p:nvSpPr>
        <p:spPr>
          <a:xfrm>
            <a:off x="3337560" y="1828800"/>
            <a:ext cx="1463040" cy="1097280"/>
          </a:xfrm>
          <a:prstGeom prst="rect">
            <a:avLst/>
          </a:prstGeom>
          <a:noFill/>
          <a:ln/>
        </p:spPr>
        <p:txBody>
          <a:bodyPr wrap="square" lIns="0" tIns="0" rIns="0" bIns="0" rtlCol="0" anchor="ctr"/>
          <a:lstStyle/>
          <a:p>
            <a:pPr algn="ctr" indent="0" marL="0">
              <a:buNone/>
            </a:pPr>
            <a:r>
              <a:rPr lang="en-US" sz="1200" b="1" dirty="0">
                <a:solidFill>
                  <a:schemeClr val="bg1"/>
                </a:solidFill>
              </a:rPr>
              <a:t>ReAct Agent</a:t>
            </a:r>
            <a:endParaRPr lang="en-US" sz="1200" dirty="0"/>
          </a:p>
          <a:p>
            <a:pPr algn="ctr" indent="0" marL="0">
              <a:buNone/>
            </a:pPr>
            <a:r>
              <a:rPr lang="en-US" sz="1200" b="1" dirty="0">
                <a:solidFill>
                  <a:schemeClr val="bg1"/>
                </a:solidFill>
              </a:rPr>
              <a:t>(ChatOllama)</a:t>
            </a:r>
            <a:endParaRPr lang="en-US" sz="1200" dirty="0"/>
          </a:p>
        </p:txBody>
      </p:sp>
      <p:sp>
        <p:nvSpPr>
          <p:cNvPr id="10" name="node"/>
          <p:cNvSpPr/>
          <p:nvPr/>
        </p:nvSpPr>
        <p:spPr>
          <a:xfrm>
            <a:off x="5257800" y="1463040"/>
            <a:ext cx="1645920" cy="457200"/>
          </a:xfrm>
          <a:prstGeom prst="roundRect">
            <a:avLst>
              <a:gd name="adj" fmla="val 20000"/>
            </a:avLst>
          </a:prstGeom>
          <a:solidFill>
            <a:schemeClr val="accent5"/>
          </a:solidFill>
          <a:ln/>
        </p:spPr>
      </p:sp>
      <p:sp>
        <p:nvSpPr>
          <p:cNvPr id="11" name="Text 9"/>
          <p:cNvSpPr txBox="1"/>
          <p:nvPr/>
        </p:nvSpPr>
        <p:spPr>
          <a:xfrm>
            <a:off x="5303520" y="1463040"/>
            <a:ext cx="1554480" cy="457200"/>
          </a:xfrm>
          <a:prstGeom prst="rect">
            <a:avLst/>
          </a:prstGeom>
          <a:noFill/>
          <a:ln/>
        </p:spPr>
        <p:txBody>
          <a:bodyPr wrap="square" lIns="0" tIns="0" rIns="0" bIns="0" rtlCol="0" anchor="ctr"/>
          <a:lstStyle/>
          <a:p>
            <a:pPr algn="ctr" indent="0" marL="0">
              <a:buNone/>
            </a:pPr>
            <a:r>
              <a:rPr lang="en-US" sz="1200" b="1" dirty="0">
                <a:solidFill>
                  <a:schemeClr val="bg1"/>
                </a:solidFill>
              </a:rPr>
              <a:t>get_stock_price</a:t>
            </a:r>
            <a:endParaRPr lang="en-US" sz="1200" dirty="0"/>
          </a:p>
        </p:txBody>
      </p:sp>
      <p:sp>
        <p:nvSpPr>
          <p:cNvPr id="12" name="node"/>
          <p:cNvSpPr/>
          <p:nvPr/>
        </p:nvSpPr>
        <p:spPr>
          <a:xfrm>
            <a:off x="5257800" y="2103120"/>
            <a:ext cx="1645920" cy="457200"/>
          </a:xfrm>
          <a:prstGeom prst="roundRect">
            <a:avLst>
              <a:gd name="adj" fmla="val 20000"/>
            </a:avLst>
          </a:prstGeom>
          <a:solidFill>
            <a:schemeClr val="accent5"/>
          </a:solidFill>
          <a:ln/>
        </p:spPr>
      </p:sp>
      <p:sp>
        <p:nvSpPr>
          <p:cNvPr id="13" name="Text 11"/>
          <p:cNvSpPr txBox="1"/>
          <p:nvPr/>
        </p:nvSpPr>
        <p:spPr>
          <a:xfrm>
            <a:off x="5303520" y="2103120"/>
            <a:ext cx="1554480" cy="457200"/>
          </a:xfrm>
          <a:prstGeom prst="rect">
            <a:avLst/>
          </a:prstGeom>
          <a:noFill/>
          <a:ln/>
        </p:spPr>
        <p:txBody>
          <a:bodyPr wrap="square" lIns="0" tIns="0" rIns="0" bIns="0" rtlCol="0" anchor="ctr"/>
          <a:lstStyle/>
          <a:p>
            <a:pPr algn="ctr" indent="0" marL="0">
              <a:buNone/>
            </a:pPr>
            <a:r>
              <a:rPr lang="en-US" sz="1200" b="1" dirty="0">
                <a:solidFill>
                  <a:schemeClr val="bg1"/>
                </a:solidFill>
              </a:rPr>
              <a:t>get_stock_news</a:t>
            </a:r>
            <a:endParaRPr lang="en-US" sz="1200" dirty="0"/>
          </a:p>
        </p:txBody>
      </p:sp>
      <p:sp>
        <p:nvSpPr>
          <p:cNvPr id="14" name="node"/>
          <p:cNvSpPr/>
          <p:nvPr/>
        </p:nvSpPr>
        <p:spPr>
          <a:xfrm>
            <a:off x="5257800" y="2743200"/>
            <a:ext cx="1645920" cy="457200"/>
          </a:xfrm>
          <a:prstGeom prst="roundRect">
            <a:avLst>
              <a:gd name="adj" fmla="val 20000"/>
            </a:avLst>
          </a:prstGeom>
          <a:solidFill>
            <a:schemeClr val="accent1"/>
          </a:solidFill>
          <a:ln/>
        </p:spPr>
      </p:sp>
      <p:sp>
        <p:nvSpPr>
          <p:cNvPr id="15" name="Text 13"/>
          <p:cNvSpPr txBox="1"/>
          <p:nvPr/>
        </p:nvSpPr>
        <p:spPr>
          <a:xfrm>
            <a:off x="5303520" y="2743200"/>
            <a:ext cx="1554480" cy="457200"/>
          </a:xfrm>
          <a:prstGeom prst="rect">
            <a:avLst/>
          </a:prstGeom>
          <a:noFill/>
          <a:ln/>
        </p:spPr>
        <p:txBody>
          <a:bodyPr wrap="square" lIns="0" tIns="0" rIns="0" bIns="0" rtlCol="0" anchor="ctr"/>
          <a:lstStyle/>
          <a:p>
            <a:pPr algn="ctr" indent="0" marL="0">
              <a:buNone/>
            </a:pPr>
            <a:r>
              <a:rPr lang="en-US" sz="1000" b="1" dirty="0">
                <a:solidFill>
                  <a:schemeClr val="bg1"/>
                </a:solidFill>
              </a:rPr>
              <a:t>search_financial_documents</a:t>
            </a:r>
            <a:endParaRPr lang="en-US" sz="1000" dirty="0"/>
          </a:p>
        </p:txBody>
      </p:sp>
      <p:sp>
        <p:nvSpPr>
          <p:cNvPr id="16" name="node"/>
          <p:cNvSpPr/>
          <p:nvPr/>
        </p:nvSpPr>
        <p:spPr>
          <a:xfrm>
            <a:off x="7269480" y="1783080"/>
            <a:ext cx="1417320" cy="457200"/>
          </a:xfrm>
          <a:prstGeom prst="roundRect">
            <a:avLst>
              <a:gd name="adj" fmla="val 20000"/>
            </a:avLst>
          </a:prstGeom>
          <a:solidFill>
            <a:schemeClr val="accent2"/>
          </a:solidFill>
          <a:ln/>
        </p:spPr>
      </p:sp>
      <p:sp>
        <p:nvSpPr>
          <p:cNvPr id="17" name="Text 15"/>
          <p:cNvSpPr txBox="1"/>
          <p:nvPr/>
        </p:nvSpPr>
        <p:spPr>
          <a:xfrm>
            <a:off x="7315200" y="1783080"/>
            <a:ext cx="1325880" cy="457200"/>
          </a:xfrm>
          <a:prstGeom prst="rect">
            <a:avLst/>
          </a:prstGeom>
          <a:noFill/>
          <a:ln/>
        </p:spPr>
        <p:txBody>
          <a:bodyPr wrap="square" lIns="0" tIns="0" rIns="0" bIns="0" rtlCol="0" anchor="ctr"/>
          <a:lstStyle/>
          <a:p>
            <a:pPr algn="ctr" indent="0" marL="0">
              <a:buNone/>
            </a:pPr>
            <a:r>
              <a:rPr lang="en-US" sz="1200" b="1" dirty="0">
                <a:solidFill>
                  <a:schemeClr val="tx1"/>
                </a:solidFill>
              </a:rPr>
              <a:t>Yahoo Finance</a:t>
            </a:r>
            <a:endParaRPr lang="en-US" sz="1200" dirty="0"/>
          </a:p>
        </p:txBody>
      </p:sp>
      <p:sp>
        <p:nvSpPr>
          <p:cNvPr id="18" name="node"/>
          <p:cNvSpPr/>
          <p:nvPr/>
        </p:nvSpPr>
        <p:spPr>
          <a:xfrm>
            <a:off x="7269480" y="2743200"/>
            <a:ext cx="1417320" cy="457200"/>
          </a:xfrm>
          <a:prstGeom prst="roundRect">
            <a:avLst>
              <a:gd name="adj" fmla="val 20000"/>
            </a:avLst>
          </a:prstGeom>
          <a:solidFill>
            <a:schemeClr val="accent2"/>
          </a:solidFill>
          <a:ln/>
        </p:spPr>
      </p:sp>
      <p:sp>
        <p:nvSpPr>
          <p:cNvPr id="19" name="Text 17"/>
          <p:cNvSpPr txBox="1"/>
          <p:nvPr/>
        </p:nvSpPr>
        <p:spPr>
          <a:xfrm>
            <a:off x="7315200" y="2743200"/>
            <a:ext cx="1325880" cy="457200"/>
          </a:xfrm>
          <a:prstGeom prst="rect">
            <a:avLst/>
          </a:prstGeom>
          <a:noFill/>
          <a:ln/>
        </p:spPr>
        <p:txBody>
          <a:bodyPr wrap="square" lIns="0" tIns="0" rIns="0" bIns="0" rtlCol="0" anchor="ctr"/>
          <a:lstStyle/>
          <a:p>
            <a:pPr algn="ctr" indent="0" marL="0">
              <a:buNone/>
            </a:pPr>
            <a:r>
              <a:rPr lang="en-US" sz="1200" b="1" dirty="0">
                <a:solidFill>
                  <a:schemeClr val="tx1"/>
                </a:solidFill>
              </a:rPr>
              <a:t>Chroma DB</a:t>
            </a:r>
            <a:endParaRPr lang="en-US" sz="1200" dirty="0"/>
          </a:p>
        </p:txBody>
      </p:sp>
      <p:sp>
        <p:nvSpPr>
          <p:cNvPr id="20" name="arrow"/>
          <p:cNvSpPr/>
          <p:nvPr/>
        </p:nvSpPr>
        <p:spPr>
          <a:xfrm>
            <a:off x="1463040" y="2377440"/>
            <a:ext cx="320040" cy="0"/>
          </a:xfrm>
          <a:prstGeom prst="line">
            <a:avLst/>
          </a:prstGeom>
          <a:noFill/>
          <a:ln w="22225">
            <a:solidFill>
              <a:schemeClr val="accent5"/>
            </a:solidFill>
            <a:prstDash val="solid"/>
            <a:tailEnd type="triangle"/>
          </a:ln>
        </p:spPr>
      </p:sp>
      <p:sp>
        <p:nvSpPr>
          <p:cNvPr id="21" name="arrow"/>
          <p:cNvSpPr/>
          <p:nvPr/>
        </p:nvSpPr>
        <p:spPr>
          <a:xfrm>
            <a:off x="2971800" y="2377440"/>
            <a:ext cx="320040" cy="0"/>
          </a:xfrm>
          <a:prstGeom prst="line">
            <a:avLst/>
          </a:prstGeom>
          <a:noFill/>
          <a:ln w="22225">
            <a:solidFill>
              <a:schemeClr val="accent5"/>
            </a:solidFill>
            <a:prstDash val="solid"/>
            <a:tailEnd type="triangle"/>
          </a:ln>
        </p:spPr>
      </p:sp>
      <p:sp>
        <p:nvSpPr>
          <p:cNvPr id="22" name="arrow"/>
          <p:cNvSpPr/>
          <p:nvPr/>
        </p:nvSpPr>
        <p:spPr>
          <a:xfrm>
            <a:off x="4846320" y="2148840"/>
            <a:ext cx="411480" cy="-457200"/>
          </a:xfrm>
          <a:prstGeom prst="line">
            <a:avLst/>
          </a:prstGeom>
          <a:noFill/>
          <a:ln w="22225">
            <a:solidFill>
              <a:schemeClr val="accent5"/>
            </a:solidFill>
            <a:prstDash val="solid"/>
            <a:tailEnd type="triangle"/>
          </a:ln>
        </p:spPr>
      </p:sp>
      <p:sp>
        <p:nvSpPr>
          <p:cNvPr id="23" name="arrow"/>
          <p:cNvSpPr/>
          <p:nvPr/>
        </p:nvSpPr>
        <p:spPr>
          <a:xfrm>
            <a:off x="4846320" y="2377440"/>
            <a:ext cx="411480" cy="-45720"/>
          </a:xfrm>
          <a:prstGeom prst="line">
            <a:avLst/>
          </a:prstGeom>
          <a:noFill/>
          <a:ln w="22225">
            <a:solidFill>
              <a:schemeClr val="accent5"/>
            </a:solidFill>
            <a:prstDash val="solid"/>
            <a:tailEnd type="triangle"/>
          </a:ln>
        </p:spPr>
      </p:sp>
      <p:sp>
        <p:nvSpPr>
          <p:cNvPr id="24" name="arrow"/>
          <p:cNvSpPr/>
          <p:nvPr/>
        </p:nvSpPr>
        <p:spPr>
          <a:xfrm>
            <a:off x="4846320" y="2606040"/>
            <a:ext cx="411480" cy="365760"/>
          </a:xfrm>
          <a:prstGeom prst="line">
            <a:avLst/>
          </a:prstGeom>
          <a:noFill/>
          <a:ln w="22225">
            <a:solidFill>
              <a:schemeClr val="accent5"/>
            </a:solidFill>
            <a:prstDash val="solid"/>
            <a:tailEnd type="triangle"/>
          </a:ln>
        </p:spPr>
      </p:sp>
      <p:sp>
        <p:nvSpPr>
          <p:cNvPr id="25" name="arrow"/>
          <p:cNvSpPr/>
          <p:nvPr/>
        </p:nvSpPr>
        <p:spPr>
          <a:xfrm>
            <a:off x="6903720" y="1691640"/>
            <a:ext cx="365760" cy="228600"/>
          </a:xfrm>
          <a:prstGeom prst="line">
            <a:avLst/>
          </a:prstGeom>
          <a:noFill/>
          <a:ln w="22225">
            <a:solidFill>
              <a:schemeClr val="accent5"/>
            </a:solidFill>
            <a:prstDash val="solid"/>
            <a:tailEnd type="triangle"/>
          </a:ln>
        </p:spPr>
      </p:sp>
      <p:sp>
        <p:nvSpPr>
          <p:cNvPr id="26" name="arrow"/>
          <p:cNvSpPr/>
          <p:nvPr/>
        </p:nvSpPr>
        <p:spPr>
          <a:xfrm>
            <a:off x="6903720" y="2331720"/>
            <a:ext cx="365760" cy="-228600"/>
          </a:xfrm>
          <a:prstGeom prst="line">
            <a:avLst/>
          </a:prstGeom>
          <a:noFill/>
          <a:ln w="22225">
            <a:solidFill>
              <a:schemeClr val="accent5"/>
            </a:solidFill>
            <a:prstDash val="solid"/>
            <a:tailEnd type="triangle"/>
          </a:ln>
        </p:spPr>
      </p:sp>
      <p:sp>
        <p:nvSpPr>
          <p:cNvPr id="27" name="arrow"/>
          <p:cNvSpPr/>
          <p:nvPr/>
        </p:nvSpPr>
        <p:spPr>
          <a:xfrm>
            <a:off x="6903720" y="2971800"/>
            <a:ext cx="365760" cy="0"/>
          </a:xfrm>
          <a:prstGeom prst="line">
            <a:avLst/>
          </a:prstGeom>
          <a:noFill/>
          <a:ln w="22225">
            <a:solidFill>
              <a:schemeClr val="accent5"/>
            </a:solidFill>
            <a:prstDash val="solid"/>
            <a:tailEnd type="triangle"/>
          </a:ln>
        </p:spPr>
      </p:sp>
      <p:sp>
        <p:nvSpPr>
          <p:cNvPr id="28" name="Text 26"/>
          <p:cNvSpPr txBox="1"/>
          <p:nvPr/>
        </p:nvSpPr>
        <p:spPr>
          <a:xfrm>
            <a:off x="457200" y="3474720"/>
            <a:ext cx="5486400" cy="274320"/>
          </a:xfrm>
          <a:prstGeom prst="rect">
            <a:avLst/>
          </a:prstGeom>
          <a:noFill/>
          <a:ln/>
        </p:spPr>
        <p:txBody>
          <a:bodyPr wrap="square" lIns="0" tIns="0" rIns="0" bIns="0" rtlCol="0" anchor="t"/>
          <a:lstStyle/>
          <a:p>
            <a:pPr indent="0" marL="0">
              <a:buNone/>
            </a:pPr>
            <a:r>
              <a:rPr lang="en-US" sz="1200" b="1" dirty="0">
                <a:solidFill>
                  <a:schemeClr val="accent5"/>
                </a:solidFill>
              </a:rPr>
              <a:t>OFFLINE: building the index (ingest.py)</a:t>
            </a:r>
            <a:endParaRPr lang="en-US" sz="1200" dirty="0"/>
          </a:p>
        </p:txBody>
      </p:sp>
      <p:sp>
        <p:nvSpPr>
          <p:cNvPr id="29" name="node"/>
          <p:cNvSpPr/>
          <p:nvPr/>
        </p:nvSpPr>
        <p:spPr>
          <a:xfrm>
            <a:off x="457200" y="3840480"/>
            <a:ext cx="1783080" cy="640080"/>
          </a:xfrm>
          <a:prstGeom prst="roundRect">
            <a:avLst>
              <a:gd name="adj" fmla="val 14286"/>
            </a:avLst>
          </a:prstGeom>
          <a:solidFill>
            <a:schemeClr val="accent3"/>
          </a:solidFill>
          <a:ln/>
        </p:spPr>
      </p:sp>
      <p:sp>
        <p:nvSpPr>
          <p:cNvPr id="30" name="Text 28"/>
          <p:cNvSpPr txBox="1"/>
          <p:nvPr/>
        </p:nvSpPr>
        <p:spPr>
          <a:xfrm>
            <a:off x="502920" y="3840480"/>
            <a:ext cx="1691640" cy="640080"/>
          </a:xfrm>
          <a:prstGeom prst="rect">
            <a:avLst/>
          </a:prstGeom>
          <a:noFill/>
          <a:ln/>
        </p:spPr>
        <p:txBody>
          <a:bodyPr wrap="square" lIns="0" tIns="0" rIns="0" bIns="0" rtlCol="0" anchor="ctr"/>
          <a:lstStyle/>
          <a:p>
            <a:pPr algn="ctr" indent="0" marL="0">
              <a:buNone/>
            </a:pPr>
            <a:r>
              <a:rPr lang="en-US" sz="1200" b="1" dirty="0">
                <a:solidFill>
                  <a:schemeClr val="bg1"/>
                </a:solidFill>
              </a:rPr>
              <a:t>PDF / TXT in data/</a:t>
            </a:r>
            <a:endParaRPr lang="en-US" sz="1200" dirty="0"/>
          </a:p>
        </p:txBody>
      </p:sp>
      <p:sp>
        <p:nvSpPr>
          <p:cNvPr id="31" name="arrow"/>
          <p:cNvSpPr/>
          <p:nvPr/>
        </p:nvSpPr>
        <p:spPr>
          <a:xfrm>
            <a:off x="2240280" y="4160520"/>
            <a:ext cx="320040" cy="0"/>
          </a:xfrm>
          <a:prstGeom prst="line">
            <a:avLst/>
          </a:prstGeom>
          <a:noFill/>
          <a:ln w="22225">
            <a:solidFill>
              <a:schemeClr val="accent5"/>
            </a:solidFill>
            <a:prstDash val="solid"/>
            <a:tailEnd type="triangle"/>
          </a:ln>
        </p:spPr>
      </p:sp>
      <p:sp>
        <p:nvSpPr>
          <p:cNvPr id="32" name="node"/>
          <p:cNvSpPr/>
          <p:nvPr/>
        </p:nvSpPr>
        <p:spPr>
          <a:xfrm>
            <a:off x="2560320" y="3840480"/>
            <a:ext cx="1783080" cy="640080"/>
          </a:xfrm>
          <a:prstGeom prst="roundRect">
            <a:avLst>
              <a:gd name="adj" fmla="val 14286"/>
            </a:avLst>
          </a:prstGeom>
          <a:solidFill>
            <a:schemeClr val="accent3"/>
          </a:solidFill>
          <a:ln/>
        </p:spPr>
      </p:sp>
      <p:sp>
        <p:nvSpPr>
          <p:cNvPr id="33" name="Text 31"/>
          <p:cNvSpPr txBox="1"/>
          <p:nvPr/>
        </p:nvSpPr>
        <p:spPr>
          <a:xfrm>
            <a:off x="2606040" y="3840480"/>
            <a:ext cx="1691640" cy="640080"/>
          </a:xfrm>
          <a:prstGeom prst="rect">
            <a:avLst/>
          </a:prstGeom>
          <a:noFill/>
          <a:ln/>
        </p:spPr>
        <p:txBody>
          <a:bodyPr wrap="square" lIns="0" tIns="0" rIns="0" bIns="0" rtlCol="0" anchor="ctr"/>
          <a:lstStyle/>
          <a:p>
            <a:pPr algn="ctr" indent="0" marL="0">
              <a:buNone/>
            </a:pPr>
            <a:r>
              <a:rPr lang="en-US" sz="1200" b="1" dirty="0">
                <a:solidFill>
                  <a:schemeClr val="bg1"/>
                </a:solidFill>
              </a:rPr>
              <a:t>Split into chunks</a:t>
            </a:r>
            <a:endParaRPr lang="en-US" sz="1200" dirty="0"/>
          </a:p>
        </p:txBody>
      </p:sp>
      <p:sp>
        <p:nvSpPr>
          <p:cNvPr id="34" name="arrow"/>
          <p:cNvSpPr/>
          <p:nvPr/>
        </p:nvSpPr>
        <p:spPr>
          <a:xfrm>
            <a:off x="4343400" y="4160520"/>
            <a:ext cx="320040" cy="0"/>
          </a:xfrm>
          <a:prstGeom prst="line">
            <a:avLst/>
          </a:prstGeom>
          <a:noFill/>
          <a:ln w="22225">
            <a:solidFill>
              <a:schemeClr val="accent5"/>
            </a:solidFill>
            <a:prstDash val="solid"/>
            <a:tailEnd type="triangle"/>
          </a:ln>
        </p:spPr>
      </p:sp>
      <p:sp>
        <p:nvSpPr>
          <p:cNvPr id="35" name="node"/>
          <p:cNvSpPr/>
          <p:nvPr/>
        </p:nvSpPr>
        <p:spPr>
          <a:xfrm>
            <a:off x="4663440" y="3840480"/>
            <a:ext cx="1783080" cy="640080"/>
          </a:xfrm>
          <a:prstGeom prst="roundRect">
            <a:avLst>
              <a:gd name="adj" fmla="val 14286"/>
            </a:avLst>
          </a:prstGeom>
          <a:solidFill>
            <a:schemeClr val="accent3"/>
          </a:solidFill>
          <a:ln/>
        </p:spPr>
      </p:sp>
      <p:sp>
        <p:nvSpPr>
          <p:cNvPr id="36" name="Text 34"/>
          <p:cNvSpPr txBox="1"/>
          <p:nvPr/>
        </p:nvSpPr>
        <p:spPr>
          <a:xfrm>
            <a:off x="4709160" y="3840480"/>
            <a:ext cx="1691640" cy="640080"/>
          </a:xfrm>
          <a:prstGeom prst="rect">
            <a:avLst/>
          </a:prstGeom>
          <a:noFill/>
          <a:ln/>
        </p:spPr>
        <p:txBody>
          <a:bodyPr wrap="square" lIns="0" tIns="0" rIns="0" bIns="0" rtlCol="0" anchor="ctr"/>
          <a:lstStyle/>
          <a:p>
            <a:pPr algn="ctr" indent="0" marL="0">
              <a:buNone/>
            </a:pPr>
            <a:r>
              <a:rPr lang="en-US" sz="1200" b="1" dirty="0">
                <a:solidFill>
                  <a:schemeClr val="bg1"/>
                </a:solidFill>
              </a:rPr>
              <a:t>Embed (nomic-embed-text)</a:t>
            </a:r>
            <a:endParaRPr lang="en-US" sz="1200" dirty="0"/>
          </a:p>
        </p:txBody>
      </p:sp>
      <p:sp>
        <p:nvSpPr>
          <p:cNvPr id="37" name="arrow"/>
          <p:cNvSpPr/>
          <p:nvPr/>
        </p:nvSpPr>
        <p:spPr>
          <a:xfrm>
            <a:off x="6446520" y="4160520"/>
            <a:ext cx="320040" cy="0"/>
          </a:xfrm>
          <a:prstGeom prst="line">
            <a:avLst/>
          </a:prstGeom>
          <a:noFill/>
          <a:ln w="22225">
            <a:solidFill>
              <a:schemeClr val="accent5"/>
            </a:solidFill>
            <a:prstDash val="solid"/>
            <a:tailEnd type="triangle"/>
          </a:ln>
        </p:spPr>
      </p:sp>
      <p:sp>
        <p:nvSpPr>
          <p:cNvPr id="38" name="node"/>
          <p:cNvSpPr/>
          <p:nvPr/>
        </p:nvSpPr>
        <p:spPr>
          <a:xfrm>
            <a:off x="6766560" y="3840480"/>
            <a:ext cx="1783080" cy="640080"/>
          </a:xfrm>
          <a:prstGeom prst="roundRect">
            <a:avLst>
              <a:gd name="adj" fmla="val 14286"/>
            </a:avLst>
          </a:prstGeom>
          <a:solidFill>
            <a:schemeClr val="accent2"/>
          </a:solidFill>
          <a:ln/>
        </p:spPr>
      </p:sp>
      <p:sp>
        <p:nvSpPr>
          <p:cNvPr id="39" name="Text 37"/>
          <p:cNvSpPr txBox="1"/>
          <p:nvPr/>
        </p:nvSpPr>
        <p:spPr>
          <a:xfrm>
            <a:off x="6812280" y="3840480"/>
            <a:ext cx="1691640" cy="640080"/>
          </a:xfrm>
          <a:prstGeom prst="rect">
            <a:avLst/>
          </a:prstGeom>
          <a:noFill/>
          <a:ln/>
        </p:spPr>
        <p:txBody>
          <a:bodyPr wrap="square" lIns="0" tIns="0" rIns="0" bIns="0" rtlCol="0" anchor="ctr"/>
          <a:lstStyle/>
          <a:p>
            <a:pPr algn="ctr" indent="0" marL="0">
              <a:buNone/>
            </a:pPr>
            <a:r>
              <a:rPr lang="en-US" sz="1200" b="1" dirty="0">
                <a:solidFill>
                  <a:schemeClr val="tx1"/>
                </a:solidFill>
              </a:rPr>
              <a:t>Persist in Chroma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Tech stack</a:t>
            </a:r>
            <a:endParaRPr lang="en-US" sz="3200" dirty="0"/>
          </a:p>
        </p:txBody>
      </p:sp>
      <p:sp>
        <p:nvSpPr>
          <p:cNvPr id="3" name="stack-card"/>
          <p:cNvSpPr/>
          <p:nvPr/>
        </p:nvSpPr>
        <p:spPr>
          <a:xfrm>
            <a:off x="457200" y="128016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640080" y="1463040"/>
            <a:ext cx="457200" cy="457200"/>
          </a:xfrm>
          <a:prstGeom prst="ellipse">
            <a:avLst/>
          </a:prstGeom>
          <a:solidFill>
            <a:schemeClr val="tx2"/>
          </a:solidFill>
          <a:ln/>
        </p:spPr>
      </p:sp>
      <p:pic>
        <p:nvPicPr>
          <p:cNvPr id="5" name="Image 0" descr="icon">    </p:cNvPr>
          <p:cNvPicPr>
            <a:picLocks noChangeAspect="1"/>
          </p:cNvPicPr>
          <p:nvPr/>
        </p:nvPicPr>
        <p:blipFill>
          <a:blip r:embed="rId1"/>
          <a:stretch>
            <a:fillRect/>
          </a:stretch>
        </p:blipFill>
        <p:spPr>
          <a:xfrm>
            <a:off x="754380" y="1577340"/>
            <a:ext cx="228600" cy="228600"/>
          </a:xfrm>
          <a:prstGeom prst="rect">
            <a:avLst/>
          </a:prstGeom>
        </p:spPr>
      </p:pic>
      <p:sp>
        <p:nvSpPr>
          <p:cNvPr id="6" name="Text 3"/>
          <p:cNvSpPr txBox="1"/>
          <p:nvPr/>
        </p:nvSpPr>
        <p:spPr>
          <a:xfrm>
            <a:off x="1234440" y="146304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Ollama + ChatOllama</a:t>
            </a:r>
            <a:endParaRPr lang="en-US" sz="1500" dirty="0"/>
          </a:p>
        </p:txBody>
      </p:sp>
      <p:sp>
        <p:nvSpPr>
          <p:cNvPr id="7" name="Text 4"/>
          <p:cNvSpPr txBox="1"/>
          <p:nvPr/>
        </p:nvSpPr>
        <p:spPr>
          <a:xfrm>
            <a:off x="640080" y="2029968"/>
            <a:ext cx="2240280" cy="685800"/>
          </a:xfrm>
          <a:prstGeom prst="rect">
            <a:avLst/>
          </a:prstGeom>
          <a:noFill/>
          <a:ln/>
        </p:spPr>
        <p:txBody>
          <a:bodyPr wrap="square" lIns="0" tIns="0" rIns="0" bIns="0" rtlCol="0" anchor="t"/>
          <a:lstStyle/>
          <a:p>
            <a:pPr indent="0" marL="0">
              <a:buNone/>
            </a:pPr>
            <a:r>
              <a:rPr lang="en-US" sz="1300" dirty="0">
                <a:solidFill>
                  <a:schemeClr val="tx1"/>
                </a:solidFill>
              </a:rPr>
              <a:t>Local LLM, no API cost. Needs a model with tool-calling support.</a:t>
            </a:r>
            <a:endParaRPr lang="en-US" sz="1300" dirty="0"/>
          </a:p>
        </p:txBody>
      </p:sp>
      <p:sp>
        <p:nvSpPr>
          <p:cNvPr id="8" name="stack-card"/>
          <p:cNvSpPr/>
          <p:nvPr/>
        </p:nvSpPr>
        <p:spPr>
          <a:xfrm>
            <a:off x="3291840" y="128016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3474720" y="1463040"/>
            <a:ext cx="457200" cy="457200"/>
          </a:xfrm>
          <a:prstGeom prst="ellipse">
            <a:avLst/>
          </a:prstGeom>
          <a:solidFill>
            <a:schemeClr val="accent1"/>
          </a:solidFill>
          <a:ln/>
        </p:spPr>
      </p:sp>
      <p:pic>
        <p:nvPicPr>
          <p:cNvPr id="10" name="Image 1" descr="icon">    </p:cNvPr>
          <p:cNvPicPr>
            <a:picLocks noChangeAspect="1"/>
          </p:cNvPicPr>
          <p:nvPr/>
        </p:nvPicPr>
        <p:blipFill>
          <a:blip r:embed="rId2"/>
          <a:stretch>
            <a:fillRect/>
          </a:stretch>
        </p:blipFill>
        <p:spPr>
          <a:xfrm>
            <a:off x="3589020" y="1577340"/>
            <a:ext cx="228600" cy="228600"/>
          </a:xfrm>
          <a:prstGeom prst="rect">
            <a:avLst/>
          </a:prstGeom>
        </p:spPr>
      </p:pic>
      <p:sp>
        <p:nvSpPr>
          <p:cNvPr id="11" name="Text 7"/>
          <p:cNvSpPr txBox="1"/>
          <p:nvPr/>
        </p:nvSpPr>
        <p:spPr>
          <a:xfrm>
            <a:off x="4069080" y="146304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LangChain 1.0</a:t>
            </a:r>
            <a:endParaRPr lang="en-US" sz="1500" dirty="0"/>
          </a:p>
        </p:txBody>
      </p:sp>
      <p:sp>
        <p:nvSpPr>
          <p:cNvPr id="12" name="Text 8"/>
          <p:cNvSpPr txBox="1"/>
          <p:nvPr/>
        </p:nvSpPr>
        <p:spPr>
          <a:xfrm>
            <a:off x="3474720" y="2029968"/>
            <a:ext cx="2240280" cy="685800"/>
          </a:xfrm>
          <a:prstGeom prst="rect">
            <a:avLst/>
          </a:prstGeom>
          <a:noFill/>
          <a:ln/>
        </p:spPr>
        <p:txBody>
          <a:bodyPr wrap="square" lIns="0" tIns="0" rIns="0" bIns="0" rtlCol="0" anchor="t"/>
          <a:lstStyle/>
          <a:p>
            <a:pPr indent="0" marL="0">
              <a:buNone/>
            </a:pPr>
            <a:r>
              <a:rPr lang="en-US" sz="1300" dirty="0">
                <a:solidFill>
                  <a:schemeClr val="tx1"/>
                </a:solidFill>
              </a:rPr>
              <a:t>Loaders, splitters, @tool, and create_agent for the ReAct loop.</a:t>
            </a:r>
            <a:endParaRPr lang="en-US" sz="1300" dirty="0"/>
          </a:p>
        </p:txBody>
      </p:sp>
      <p:sp>
        <p:nvSpPr>
          <p:cNvPr id="13" name="stack-card"/>
          <p:cNvSpPr/>
          <p:nvPr/>
        </p:nvSpPr>
        <p:spPr>
          <a:xfrm>
            <a:off x="6126480" y="128016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6309360" y="1463040"/>
            <a:ext cx="457200" cy="457200"/>
          </a:xfrm>
          <a:prstGeom prst="ellipse">
            <a:avLst/>
          </a:prstGeom>
          <a:solidFill>
            <a:schemeClr val="accent3"/>
          </a:solidFill>
          <a:ln/>
        </p:spPr>
      </p:sp>
      <p:pic>
        <p:nvPicPr>
          <p:cNvPr id="15" name="Image 2" descr="icon">    </p:cNvPr>
          <p:cNvPicPr>
            <a:picLocks noChangeAspect="1"/>
          </p:cNvPicPr>
          <p:nvPr/>
        </p:nvPicPr>
        <p:blipFill>
          <a:blip r:embed="rId3"/>
          <a:stretch>
            <a:fillRect/>
          </a:stretch>
        </p:blipFill>
        <p:spPr>
          <a:xfrm>
            <a:off x="6423660" y="1577340"/>
            <a:ext cx="228600" cy="228600"/>
          </a:xfrm>
          <a:prstGeom prst="rect">
            <a:avLst/>
          </a:prstGeom>
        </p:spPr>
      </p:pic>
      <p:sp>
        <p:nvSpPr>
          <p:cNvPr id="16" name="Text 11"/>
          <p:cNvSpPr txBox="1"/>
          <p:nvPr/>
        </p:nvSpPr>
        <p:spPr>
          <a:xfrm>
            <a:off x="6903720" y="146304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Chroma</a:t>
            </a:r>
            <a:endParaRPr lang="en-US" sz="1500" dirty="0"/>
          </a:p>
        </p:txBody>
      </p:sp>
      <p:sp>
        <p:nvSpPr>
          <p:cNvPr id="17" name="Text 12"/>
          <p:cNvSpPr txBox="1"/>
          <p:nvPr/>
        </p:nvSpPr>
        <p:spPr>
          <a:xfrm>
            <a:off x="6309360" y="2029968"/>
            <a:ext cx="2240280" cy="685800"/>
          </a:xfrm>
          <a:prstGeom prst="rect">
            <a:avLst/>
          </a:prstGeom>
          <a:noFill/>
          <a:ln/>
        </p:spPr>
        <p:txBody>
          <a:bodyPr wrap="square" lIns="0" tIns="0" rIns="0" bIns="0" rtlCol="0" anchor="t"/>
          <a:lstStyle/>
          <a:p>
            <a:pPr indent="0" marL="0">
              <a:buNone/>
            </a:pPr>
            <a:r>
              <a:rPr lang="en-US" sz="1300" dirty="0">
                <a:solidFill>
                  <a:schemeClr val="tx1"/>
                </a:solidFill>
              </a:rPr>
              <a:t>Persistent vector store used by the retriever.</a:t>
            </a:r>
            <a:endParaRPr lang="en-US" sz="1300" dirty="0"/>
          </a:p>
        </p:txBody>
      </p:sp>
      <p:sp>
        <p:nvSpPr>
          <p:cNvPr id="18" name="stack-card"/>
          <p:cNvSpPr/>
          <p:nvPr/>
        </p:nvSpPr>
        <p:spPr>
          <a:xfrm>
            <a:off x="457200" y="297180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640080" y="3154680"/>
            <a:ext cx="457200" cy="457200"/>
          </a:xfrm>
          <a:prstGeom prst="ellipse">
            <a:avLst/>
          </a:prstGeom>
          <a:solidFill>
            <a:schemeClr val="accent5"/>
          </a:solidFill>
          <a:ln/>
        </p:spPr>
      </p:sp>
      <p:pic>
        <p:nvPicPr>
          <p:cNvPr id="20" name="Image 3" descr="icon">    </p:cNvPr>
          <p:cNvPicPr>
            <a:picLocks noChangeAspect="1"/>
          </p:cNvPicPr>
          <p:nvPr/>
        </p:nvPicPr>
        <p:blipFill>
          <a:blip r:embed="rId4"/>
          <a:stretch>
            <a:fillRect/>
          </a:stretch>
        </p:blipFill>
        <p:spPr>
          <a:xfrm>
            <a:off x="754380" y="3268980"/>
            <a:ext cx="228600" cy="228600"/>
          </a:xfrm>
          <a:prstGeom prst="rect">
            <a:avLst/>
          </a:prstGeom>
        </p:spPr>
      </p:pic>
      <p:sp>
        <p:nvSpPr>
          <p:cNvPr id="21" name="Text 15"/>
          <p:cNvSpPr txBox="1"/>
          <p:nvPr/>
        </p:nvSpPr>
        <p:spPr>
          <a:xfrm>
            <a:off x="1234440" y="315468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nomic-embed-text</a:t>
            </a:r>
            <a:endParaRPr lang="en-US" sz="1500" dirty="0"/>
          </a:p>
        </p:txBody>
      </p:sp>
      <p:sp>
        <p:nvSpPr>
          <p:cNvPr id="22" name="Text 16"/>
          <p:cNvSpPr txBox="1"/>
          <p:nvPr/>
        </p:nvSpPr>
        <p:spPr>
          <a:xfrm>
            <a:off x="640080" y="3721608"/>
            <a:ext cx="2240280" cy="685800"/>
          </a:xfrm>
          <a:prstGeom prst="rect">
            <a:avLst/>
          </a:prstGeom>
          <a:noFill/>
          <a:ln/>
        </p:spPr>
        <p:txBody>
          <a:bodyPr wrap="square" lIns="0" tIns="0" rIns="0" bIns="0" rtlCol="0" anchor="t"/>
          <a:lstStyle/>
          <a:p>
            <a:pPr indent="0" marL="0">
              <a:buNone/>
            </a:pPr>
            <a:r>
              <a:rPr lang="en-US" sz="1300" dirty="0">
                <a:solidFill>
                  <a:schemeClr val="tx1"/>
                </a:solidFill>
              </a:rPr>
              <a:t>Embedding model that turns text chunks into vectors.</a:t>
            </a:r>
            <a:endParaRPr lang="en-US" sz="1300" dirty="0"/>
          </a:p>
        </p:txBody>
      </p:sp>
      <p:sp>
        <p:nvSpPr>
          <p:cNvPr id="23" name="stack-card"/>
          <p:cNvSpPr/>
          <p:nvPr/>
        </p:nvSpPr>
        <p:spPr>
          <a:xfrm>
            <a:off x="3291840" y="297180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circle"/>
          <p:cNvSpPr/>
          <p:nvPr/>
        </p:nvSpPr>
        <p:spPr>
          <a:xfrm>
            <a:off x="3474720" y="3154680"/>
            <a:ext cx="457200" cy="457200"/>
          </a:xfrm>
          <a:prstGeom prst="ellipse">
            <a:avLst/>
          </a:prstGeom>
          <a:solidFill>
            <a:schemeClr val="accent1"/>
          </a:solidFill>
          <a:ln/>
        </p:spPr>
      </p:sp>
      <p:pic>
        <p:nvPicPr>
          <p:cNvPr id="25" name="Image 4" descr="icon">    </p:cNvPr>
          <p:cNvPicPr>
            <a:picLocks noChangeAspect="1"/>
          </p:cNvPicPr>
          <p:nvPr/>
        </p:nvPicPr>
        <p:blipFill>
          <a:blip r:embed="rId5"/>
          <a:stretch>
            <a:fillRect/>
          </a:stretch>
        </p:blipFill>
        <p:spPr>
          <a:xfrm>
            <a:off x="3589020" y="3268980"/>
            <a:ext cx="228600" cy="228600"/>
          </a:xfrm>
          <a:prstGeom prst="rect">
            <a:avLst/>
          </a:prstGeom>
        </p:spPr>
      </p:pic>
      <p:sp>
        <p:nvSpPr>
          <p:cNvPr id="26" name="Text 19"/>
          <p:cNvSpPr txBox="1"/>
          <p:nvPr/>
        </p:nvSpPr>
        <p:spPr>
          <a:xfrm>
            <a:off x="4069080" y="315468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yfinance</a:t>
            </a:r>
            <a:endParaRPr lang="en-US" sz="1500" dirty="0"/>
          </a:p>
        </p:txBody>
      </p:sp>
      <p:sp>
        <p:nvSpPr>
          <p:cNvPr id="27" name="Text 20"/>
          <p:cNvSpPr txBox="1"/>
          <p:nvPr/>
        </p:nvSpPr>
        <p:spPr>
          <a:xfrm>
            <a:off x="3474720" y="3721608"/>
            <a:ext cx="2240280" cy="685800"/>
          </a:xfrm>
          <a:prstGeom prst="rect">
            <a:avLst/>
          </a:prstGeom>
          <a:noFill/>
          <a:ln/>
        </p:spPr>
        <p:txBody>
          <a:bodyPr wrap="square" lIns="0" tIns="0" rIns="0" bIns="0" rtlCol="0" anchor="t"/>
          <a:lstStyle/>
          <a:p>
            <a:pPr indent="0" marL="0">
              <a:buNone/>
            </a:pPr>
            <a:r>
              <a:rPr lang="en-US" sz="1300" dirty="0">
                <a:solidFill>
                  <a:schemeClr val="tx1"/>
                </a:solidFill>
              </a:rPr>
              <a:t>Free Yahoo Finance access for live price and news.</a:t>
            </a:r>
            <a:endParaRPr lang="en-US" sz="1300" dirty="0"/>
          </a:p>
        </p:txBody>
      </p:sp>
      <p:sp>
        <p:nvSpPr>
          <p:cNvPr id="28" name="stack-card"/>
          <p:cNvSpPr/>
          <p:nvPr/>
        </p:nvSpPr>
        <p:spPr>
          <a:xfrm>
            <a:off x="6126480" y="2971800"/>
            <a:ext cx="2560320" cy="1508760"/>
          </a:xfrm>
          <a:prstGeom prst="roundRect">
            <a:avLst>
              <a:gd name="adj" fmla="val 727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con-circle"/>
          <p:cNvSpPr/>
          <p:nvPr/>
        </p:nvSpPr>
        <p:spPr>
          <a:xfrm>
            <a:off x="6309360" y="3154680"/>
            <a:ext cx="457200" cy="457200"/>
          </a:xfrm>
          <a:prstGeom prst="ellipse">
            <a:avLst/>
          </a:prstGeom>
          <a:solidFill>
            <a:schemeClr val="tx2"/>
          </a:solidFill>
          <a:ln/>
        </p:spPr>
      </p:sp>
      <p:pic>
        <p:nvPicPr>
          <p:cNvPr id="30" name="Image 5" descr="icon">    </p:cNvPr>
          <p:cNvPicPr>
            <a:picLocks noChangeAspect="1"/>
          </p:cNvPicPr>
          <p:nvPr/>
        </p:nvPicPr>
        <p:blipFill>
          <a:blip r:embed="rId6"/>
          <a:stretch>
            <a:fillRect/>
          </a:stretch>
        </p:blipFill>
        <p:spPr>
          <a:xfrm>
            <a:off x="6423660" y="3268980"/>
            <a:ext cx="228600" cy="228600"/>
          </a:xfrm>
          <a:prstGeom prst="rect">
            <a:avLst/>
          </a:prstGeom>
        </p:spPr>
      </p:pic>
      <p:sp>
        <p:nvSpPr>
          <p:cNvPr id="31" name="Text 23"/>
          <p:cNvSpPr txBox="1"/>
          <p:nvPr/>
        </p:nvSpPr>
        <p:spPr>
          <a:xfrm>
            <a:off x="6903720" y="3154680"/>
            <a:ext cx="1691640" cy="457200"/>
          </a:xfrm>
          <a:prstGeom prst="rect">
            <a:avLst/>
          </a:prstGeom>
          <a:noFill/>
          <a:ln/>
        </p:spPr>
        <p:txBody>
          <a:bodyPr wrap="square" lIns="0" tIns="0" rIns="0" bIns="0" rtlCol="0" anchor="ctr"/>
          <a:lstStyle/>
          <a:p>
            <a:pPr indent="0" marL="0">
              <a:buNone/>
            </a:pPr>
            <a:r>
              <a:rPr lang="en-US" sz="1500" b="1" dirty="0">
                <a:solidFill>
                  <a:schemeClr val="tx2"/>
                </a:solidFill>
              </a:rPr>
              <a:t>Gradio</a:t>
            </a:r>
            <a:endParaRPr lang="en-US" sz="1500" dirty="0"/>
          </a:p>
        </p:txBody>
      </p:sp>
      <p:sp>
        <p:nvSpPr>
          <p:cNvPr id="32" name="Text 24"/>
          <p:cNvSpPr txBox="1"/>
          <p:nvPr/>
        </p:nvSpPr>
        <p:spPr>
          <a:xfrm>
            <a:off x="6309360" y="3721608"/>
            <a:ext cx="2240280" cy="685800"/>
          </a:xfrm>
          <a:prstGeom prst="rect">
            <a:avLst/>
          </a:prstGeom>
          <a:noFill/>
          <a:ln/>
        </p:spPr>
        <p:txBody>
          <a:bodyPr wrap="square" lIns="0" tIns="0" rIns="0" bIns="0" rtlCol="0" anchor="t"/>
          <a:lstStyle/>
          <a:p>
            <a:pPr indent="0" marL="0">
              <a:buNone/>
            </a:pPr>
            <a:r>
              <a:rPr lang="en-US" sz="1300" dirty="0">
                <a:solidFill>
                  <a:schemeClr val="tx1"/>
                </a:solidFill>
              </a:rPr>
              <a:t>Chat UI with the required disclaimer, easy to share.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Steps 1-2: LLM and loading</a:t>
            </a:r>
            <a:endParaRPr lang="en-US" sz="3200" dirty="0"/>
          </a:p>
        </p:txBody>
      </p:sp>
      <p:sp>
        <p:nvSpPr>
          <p:cNvPr id="3" name="icon-circle"/>
          <p:cNvSpPr/>
          <p:nvPr/>
        </p:nvSpPr>
        <p:spPr>
          <a:xfrm>
            <a:off x="457200" y="1280160"/>
            <a:ext cx="548640" cy="548640"/>
          </a:xfrm>
          <a:prstGeom prst="ellipse">
            <a:avLst/>
          </a:prstGeom>
          <a:solidFill>
            <a:schemeClr val="tx2"/>
          </a:solidFill>
          <a:ln/>
        </p:spPr>
      </p:sp>
      <p:pic>
        <p:nvPicPr>
          <p:cNvPr id="4" name="Image 0" descr="icon">    </p:cNvPr>
          <p:cNvPicPr>
            <a:picLocks noChangeAspect="1"/>
          </p:cNvPicPr>
          <p:nvPr/>
        </p:nvPicPr>
        <p:blipFill>
          <a:blip r:embed="rId1"/>
          <a:stretch>
            <a:fillRect/>
          </a:stretch>
        </p:blipFill>
        <p:spPr>
          <a:xfrm>
            <a:off x="594360" y="1417320"/>
            <a:ext cx="274320" cy="274320"/>
          </a:xfrm>
          <a:prstGeom prst="rect">
            <a:avLst/>
          </a:prstGeom>
        </p:spPr>
      </p:pic>
      <p:sp>
        <p:nvSpPr>
          <p:cNvPr id="5" name="Text 2"/>
          <p:cNvSpPr txBox="1"/>
          <p:nvPr/>
        </p:nvSpPr>
        <p:spPr>
          <a:xfrm>
            <a:off x="1188720" y="1280160"/>
            <a:ext cx="3291840" cy="320040"/>
          </a:xfrm>
          <a:prstGeom prst="rect">
            <a:avLst/>
          </a:prstGeom>
          <a:noFill/>
          <a:ln/>
        </p:spPr>
        <p:txBody>
          <a:bodyPr wrap="square" lIns="0" tIns="0" rIns="0" bIns="0" rtlCol="0" anchor="t"/>
          <a:lstStyle/>
          <a:p>
            <a:pPr indent="0" marL="0">
              <a:buNone/>
            </a:pPr>
            <a:r>
              <a:rPr lang="en-US" sz="1600" b="1" dirty="0">
                <a:solidFill>
                  <a:schemeClr val="tx2"/>
                </a:solidFill>
              </a:rPr>
              <a:t>Get ChatOllama working first</a:t>
            </a:r>
            <a:endParaRPr lang="en-US" sz="1600" dirty="0"/>
          </a:p>
        </p:txBody>
      </p:sp>
      <p:sp>
        <p:nvSpPr>
          <p:cNvPr id="6" name="Text 3"/>
          <p:cNvSpPr txBox="1"/>
          <p:nvPr/>
        </p:nvSpPr>
        <p:spPr>
          <a:xfrm>
            <a:off x="1188720" y="1627632"/>
            <a:ext cx="3291840" cy="731520"/>
          </a:xfrm>
          <a:prstGeom prst="rect">
            <a:avLst/>
          </a:prstGeom>
          <a:noFill/>
          <a:ln/>
        </p:spPr>
        <p:txBody>
          <a:bodyPr wrap="square" lIns="0" tIns="0" rIns="0" bIns="0" rtlCol="0" anchor="t"/>
          <a:lstStyle/>
          <a:p>
            <a:pPr indent="0" marL="0">
              <a:buNone/>
            </a:pPr>
            <a:r>
              <a:rPr lang="en-US" sz="1400" dirty="0">
                <a:solidFill>
                  <a:schemeClr val="tx1"/>
                </a:solidFill>
              </a:rPr>
              <a:t>Test one plain call before adding anything else. Temperature 0 keeps numeric answers stable.</a:t>
            </a:r>
            <a:endParaRPr lang="en-US" sz="1400" dirty="0"/>
          </a:p>
        </p:txBody>
      </p:sp>
      <p:sp>
        <p:nvSpPr>
          <p:cNvPr id="7" name="icon-circle"/>
          <p:cNvSpPr/>
          <p:nvPr/>
        </p:nvSpPr>
        <p:spPr>
          <a:xfrm>
            <a:off x="457200" y="2377440"/>
            <a:ext cx="548640" cy="548640"/>
          </a:xfrm>
          <a:prstGeom prst="ellipse">
            <a:avLst/>
          </a:prstGeom>
          <a:solidFill>
            <a:schemeClr val="accent1"/>
          </a:solidFill>
          <a:ln/>
        </p:spPr>
      </p:sp>
      <p:pic>
        <p:nvPicPr>
          <p:cNvPr id="8" name="Image 1" descr="icon">    </p:cNvPr>
          <p:cNvPicPr>
            <a:picLocks noChangeAspect="1"/>
          </p:cNvPicPr>
          <p:nvPr/>
        </p:nvPicPr>
        <p:blipFill>
          <a:blip r:embed="rId2"/>
          <a:stretch>
            <a:fillRect/>
          </a:stretch>
        </p:blipFill>
        <p:spPr>
          <a:xfrm>
            <a:off x="594360" y="2514600"/>
            <a:ext cx="274320" cy="274320"/>
          </a:xfrm>
          <a:prstGeom prst="rect">
            <a:avLst/>
          </a:prstGeom>
        </p:spPr>
      </p:pic>
      <p:sp>
        <p:nvSpPr>
          <p:cNvPr id="9" name="Text 5"/>
          <p:cNvSpPr txBox="1"/>
          <p:nvPr/>
        </p:nvSpPr>
        <p:spPr>
          <a:xfrm>
            <a:off x="1188720" y="2377440"/>
            <a:ext cx="3291840" cy="320040"/>
          </a:xfrm>
          <a:prstGeom prst="rect">
            <a:avLst/>
          </a:prstGeom>
          <a:noFill/>
          <a:ln/>
        </p:spPr>
        <p:txBody>
          <a:bodyPr wrap="square" lIns="0" tIns="0" rIns="0" bIns="0" rtlCol="0" anchor="t"/>
          <a:lstStyle/>
          <a:p>
            <a:pPr indent="0" marL="0">
              <a:buNone/>
            </a:pPr>
            <a:r>
              <a:rPr lang="en-US" sz="1600" b="1" dirty="0">
                <a:solidFill>
                  <a:schemeClr val="tx2"/>
                </a:solidFill>
              </a:rPr>
              <a:t>PyPDFLoader per file</a:t>
            </a:r>
            <a:endParaRPr lang="en-US" sz="1600" dirty="0"/>
          </a:p>
        </p:txBody>
      </p:sp>
      <p:sp>
        <p:nvSpPr>
          <p:cNvPr id="10" name="Text 6"/>
          <p:cNvSpPr txBox="1"/>
          <p:nvPr/>
        </p:nvSpPr>
        <p:spPr>
          <a:xfrm>
            <a:off x="1188720" y="2724912"/>
            <a:ext cx="3291840" cy="731520"/>
          </a:xfrm>
          <a:prstGeom prst="rect">
            <a:avLst/>
          </a:prstGeom>
          <a:noFill/>
          <a:ln/>
        </p:spPr>
        <p:txBody>
          <a:bodyPr wrap="square" lIns="0" tIns="0" rIns="0" bIns="0" rtlCol="0" anchor="t"/>
          <a:lstStyle/>
          <a:p>
            <a:pPr indent="0" marL="0">
              <a:buNone/>
            </a:pPr>
            <a:r>
              <a:rPr lang="en-US" sz="1400" dirty="0">
                <a:solidFill>
                  <a:schemeClr val="tx1"/>
                </a:solidFill>
              </a:rPr>
              <a:t>Returns one Document per page, with source and page number saved as metadata.</a:t>
            </a:r>
            <a:endParaRPr lang="en-US" sz="1400" dirty="0"/>
          </a:p>
        </p:txBody>
      </p:sp>
      <p:sp>
        <p:nvSpPr>
          <p:cNvPr id="11" name="icon-circle"/>
          <p:cNvSpPr/>
          <p:nvPr/>
        </p:nvSpPr>
        <p:spPr>
          <a:xfrm>
            <a:off x="457200" y="3474720"/>
            <a:ext cx="548640" cy="548640"/>
          </a:xfrm>
          <a:prstGeom prst="ellipse">
            <a:avLst/>
          </a:prstGeom>
          <a:solidFill>
            <a:schemeClr val="accent3"/>
          </a:solidFill>
          <a:ln/>
        </p:spPr>
      </p:sp>
      <p:pic>
        <p:nvPicPr>
          <p:cNvPr id="12" name="Image 2" descr="icon">    </p:cNvPr>
          <p:cNvPicPr>
            <a:picLocks noChangeAspect="1"/>
          </p:cNvPicPr>
          <p:nvPr/>
        </p:nvPicPr>
        <p:blipFill>
          <a:blip r:embed="rId3"/>
          <a:stretch>
            <a:fillRect/>
          </a:stretch>
        </p:blipFill>
        <p:spPr>
          <a:xfrm>
            <a:off x="594360" y="3611880"/>
            <a:ext cx="274320" cy="274320"/>
          </a:xfrm>
          <a:prstGeom prst="rect">
            <a:avLst/>
          </a:prstGeom>
        </p:spPr>
      </p:pic>
      <p:sp>
        <p:nvSpPr>
          <p:cNvPr id="13" name="Text 8"/>
          <p:cNvSpPr txBox="1"/>
          <p:nvPr/>
        </p:nvSpPr>
        <p:spPr>
          <a:xfrm>
            <a:off x="1188720" y="3474720"/>
            <a:ext cx="3291840" cy="320040"/>
          </a:xfrm>
          <a:prstGeom prst="rect">
            <a:avLst/>
          </a:prstGeom>
          <a:noFill/>
          <a:ln/>
        </p:spPr>
        <p:txBody>
          <a:bodyPr wrap="square" lIns="0" tIns="0" rIns="0" bIns="0" rtlCol="0" anchor="t"/>
          <a:lstStyle/>
          <a:p>
            <a:pPr indent="0" marL="0">
              <a:buNone/>
            </a:pPr>
            <a:r>
              <a:rPr lang="en-US" sz="1600" b="1" dirty="0">
                <a:solidFill>
                  <a:schemeClr val="tx2"/>
                </a:solidFill>
              </a:rPr>
              <a:t>Why metadata matters</a:t>
            </a:r>
            <a:endParaRPr lang="en-US" sz="1600" dirty="0"/>
          </a:p>
        </p:txBody>
      </p:sp>
      <p:sp>
        <p:nvSpPr>
          <p:cNvPr id="14" name="Text 9"/>
          <p:cNvSpPr txBox="1"/>
          <p:nvPr/>
        </p:nvSpPr>
        <p:spPr>
          <a:xfrm>
            <a:off x="1188720" y="3822192"/>
            <a:ext cx="3291840" cy="731520"/>
          </a:xfrm>
          <a:prstGeom prst="rect">
            <a:avLst/>
          </a:prstGeom>
          <a:noFill/>
          <a:ln/>
        </p:spPr>
        <p:txBody>
          <a:bodyPr wrap="square" lIns="0" tIns="0" rIns="0" bIns="0" rtlCol="0" anchor="t"/>
          <a:lstStyle/>
          <a:p>
            <a:pPr indent="0" marL="0">
              <a:buNone/>
            </a:pPr>
            <a:r>
              <a:rPr lang="en-US" sz="1400" dirty="0">
                <a:solidFill>
                  <a:schemeClr val="tx1"/>
                </a:solidFill>
              </a:rPr>
              <a:t>The page number lets every answer cite exactly where a figure came from.</a:t>
            </a:r>
            <a:endParaRPr lang="en-US" sz="1400" dirty="0"/>
          </a:p>
        </p:txBody>
      </p:sp>
      <p:sp>
        <p:nvSpPr>
          <p:cNvPr id="15" name="code-card"/>
          <p:cNvSpPr/>
          <p:nvPr/>
        </p:nvSpPr>
        <p:spPr>
          <a:xfrm>
            <a:off x="4846320" y="1280160"/>
            <a:ext cx="3840480" cy="3246120"/>
          </a:xfrm>
          <a:prstGeom prst="roundRect">
            <a:avLst>
              <a:gd name="adj" fmla="val 2817"/>
            </a:avLst>
          </a:prstGeom>
          <a:solidFill>
            <a:schemeClr val="tx1"/>
          </a:solidFill>
          <a:ln/>
        </p:spPr>
      </p:sp>
      <p:sp>
        <p:nvSpPr>
          <p:cNvPr id="16" name="Text 11"/>
          <p:cNvSpPr txBox="1"/>
          <p:nvPr/>
        </p:nvSpPr>
        <p:spPr>
          <a:xfrm>
            <a:off x="5029200" y="1417320"/>
            <a:ext cx="3474720" cy="2971800"/>
          </a:xfrm>
          <a:prstGeom prst="rect">
            <a:avLst/>
          </a:prstGeom>
          <a:noFill/>
          <a:ln/>
        </p:spPr>
        <p:txBody>
          <a:bodyPr wrap="square" lIns="0" tIns="0" rIns="0" bIns="0" rtlCol="0" anchor="t"/>
          <a:lstStyle/>
          <a:p>
            <a:pPr indent="0" marL="0">
              <a:spcAft>
                <a:spcPts val="200"/>
              </a:spcAft>
              <a:buNone/>
            </a:pPr>
            <a:r>
              <a:rPr lang="en-US" sz="1200" dirty="0">
                <a:solidFill>
                  <a:schemeClr val="accent6"/>
                </a:solidFill>
                <a:latin typeface="Courier New" pitchFamily="34" charset="0"/>
                <a:ea typeface="Courier New" pitchFamily="34" charset="-122"/>
                <a:cs typeface="Courier New" pitchFamily="34" charset="-120"/>
              </a:rPr>
              <a:t># agent.py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llm = ChatOllama(</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model="llama3.1",</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temperature=0)</a:t>
            </a:r>
            <a:endParaRPr lang="en-US" sz="1200" dirty="0"/>
          </a:p>
          <a:p>
            <a:pPr indent="0" marL="0">
              <a:spcAft>
                <a:spcPts val="200"/>
              </a:spcAft>
              <a:buNone/>
            </a:pPr>
            <a:endParaRPr lang="en-US" sz="1200" dirty="0"/>
          </a:p>
          <a:p>
            <a:pPr indent="0" marL="0">
              <a:spcAft>
                <a:spcPts val="200"/>
              </a:spcAft>
              <a:buNone/>
            </a:pPr>
            <a:r>
              <a:rPr lang="en-US" sz="1200" dirty="0">
                <a:solidFill>
                  <a:schemeClr val="accent6"/>
                </a:solidFill>
                <a:latin typeface="Courier New" pitchFamily="34" charset="0"/>
                <a:ea typeface="Courier New" pitchFamily="34" charset="-122"/>
                <a:cs typeface="Courier New" pitchFamily="34" charset="-120"/>
              </a:rPr>
              <a:t># ingest.py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docs += PyPDFLoader(</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path).load()</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-&gt; Document(page_content,</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metadata={source, page})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 3: split without breaking numbers</a:t>
            </a:r>
            <a:endParaRPr lang="en-US" sz="3200" dirty="0"/>
          </a:p>
        </p:txBody>
      </p:sp>
      <p:sp>
        <p:nvSpPr>
          <p:cNvPr id="3" name="bad-card"/>
          <p:cNvSpPr/>
          <p:nvPr/>
        </p:nvSpPr>
        <p:spPr>
          <a:xfrm>
            <a:off x="457200" y="1234440"/>
            <a:ext cx="3977640" cy="2103120"/>
          </a:xfrm>
          <a:prstGeom prst="roundRect">
            <a:avLst>
              <a:gd name="adj" fmla="val 5217"/>
            </a:avLst>
          </a:prstGeom>
          <a:solidFill>
            <a:srgbClr val="FBE9E7"/>
          </a:solidFill>
          <a:ln/>
        </p:spPr>
      </p:sp>
      <p:sp>
        <p:nvSpPr>
          <p:cNvPr id="4" name="Text 2"/>
          <p:cNvSpPr txBox="1"/>
          <p:nvPr/>
        </p:nvSpPr>
        <p:spPr>
          <a:xfrm>
            <a:off x="685800" y="1371600"/>
            <a:ext cx="3566160" cy="320040"/>
          </a:xfrm>
          <a:prstGeom prst="rect">
            <a:avLst/>
          </a:prstGeom>
          <a:noFill/>
          <a:ln/>
        </p:spPr>
        <p:txBody>
          <a:bodyPr wrap="square" lIns="0" tIns="0" rIns="0" bIns="0" rtlCol="0" anchor="t"/>
          <a:lstStyle/>
          <a:p>
            <a:pPr indent="0" marL="0">
              <a:buNone/>
            </a:pPr>
            <a:r>
              <a:rPr lang="en-US" sz="1600" b="1" dirty="0">
                <a:solidFill>
                  <a:schemeClr val="accent4"/>
                </a:solidFill>
              </a:rPr>
              <a:t>Chunk too small</a:t>
            </a:r>
            <a:endParaRPr lang="en-US" sz="1600" dirty="0"/>
          </a:p>
        </p:txBody>
      </p:sp>
      <p:sp>
        <p:nvSpPr>
          <p:cNvPr id="5" name="Text 3"/>
          <p:cNvSpPr txBox="1"/>
          <p:nvPr/>
        </p:nvSpPr>
        <p:spPr>
          <a:xfrm>
            <a:off x="685800" y="1783080"/>
            <a:ext cx="356616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Chunk 1:  Revenue from operations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Chunk 2:  9,15,000   (INR crore)</a:t>
            </a:r>
            <a:endParaRPr lang="en-US" sz="1200" dirty="0"/>
          </a:p>
        </p:txBody>
      </p:sp>
      <p:sp>
        <p:nvSpPr>
          <p:cNvPr id="6" name="Text 4"/>
          <p:cNvSpPr txBox="1"/>
          <p:nvPr/>
        </p:nvSpPr>
        <p:spPr>
          <a:xfrm>
            <a:off x="685800" y="2514600"/>
            <a:ext cx="3566160" cy="731520"/>
          </a:xfrm>
          <a:prstGeom prst="rect">
            <a:avLst/>
          </a:prstGeom>
          <a:noFill/>
          <a:ln/>
        </p:spPr>
        <p:txBody>
          <a:bodyPr wrap="square" lIns="0" tIns="0" rIns="0" bIns="0" rtlCol="0" anchor="t"/>
          <a:lstStyle/>
          <a:p>
            <a:pPr indent="0" marL="0">
              <a:buNone/>
            </a:pPr>
            <a:r>
              <a:rPr lang="en-US" sz="1400" dirty="0">
                <a:solidFill>
                  <a:schemeClr val="tx1"/>
                </a:solidFill>
              </a:rPr>
              <a:t>The label and its number land in different chunks. The retriever returns a number with no meaning.</a:t>
            </a:r>
            <a:endParaRPr lang="en-US" sz="1400" dirty="0"/>
          </a:p>
        </p:txBody>
      </p:sp>
      <p:sp>
        <p:nvSpPr>
          <p:cNvPr id="7" name="good-card"/>
          <p:cNvSpPr/>
          <p:nvPr/>
        </p:nvSpPr>
        <p:spPr>
          <a:xfrm>
            <a:off x="4709160" y="1234440"/>
            <a:ext cx="3977640" cy="2103120"/>
          </a:xfrm>
          <a:prstGeom prst="roundRect">
            <a:avLst>
              <a:gd name="adj" fmla="val 5217"/>
            </a:avLst>
          </a:prstGeom>
          <a:solidFill>
            <a:schemeClr val="bg2"/>
          </a:solidFill>
          <a:ln/>
        </p:spPr>
      </p:sp>
      <p:sp>
        <p:nvSpPr>
          <p:cNvPr id="8" name="Text 6"/>
          <p:cNvSpPr txBox="1"/>
          <p:nvPr/>
        </p:nvSpPr>
        <p:spPr>
          <a:xfrm>
            <a:off x="4937760" y="13716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Chunk 1200, overlap 250</a:t>
            </a:r>
            <a:endParaRPr lang="en-US" sz="1600" dirty="0"/>
          </a:p>
        </p:txBody>
      </p:sp>
      <p:sp>
        <p:nvSpPr>
          <p:cNvPr id="9" name="Text 7"/>
          <p:cNvSpPr txBox="1"/>
          <p:nvPr/>
        </p:nvSpPr>
        <p:spPr>
          <a:xfrm>
            <a:off x="4937760" y="1783080"/>
            <a:ext cx="3566160" cy="6400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Chunk 1:  Revenue from operations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9,15,000   (INR crore)</a:t>
            </a:r>
            <a:endParaRPr lang="en-US" sz="1200" dirty="0"/>
          </a:p>
        </p:txBody>
      </p:sp>
      <p:sp>
        <p:nvSpPr>
          <p:cNvPr id="10" name="Text 8"/>
          <p:cNvSpPr txBox="1"/>
          <p:nvPr/>
        </p:nvSpPr>
        <p:spPr>
          <a:xfrm>
            <a:off x="4937760" y="2514600"/>
            <a:ext cx="3566160" cy="731520"/>
          </a:xfrm>
          <a:prstGeom prst="rect">
            <a:avLst/>
          </a:prstGeom>
          <a:noFill/>
          <a:ln/>
        </p:spPr>
        <p:txBody>
          <a:bodyPr wrap="square" lIns="0" tIns="0" rIns="0" bIns="0" rtlCol="0" anchor="t"/>
          <a:lstStyle/>
          <a:p>
            <a:pPr indent="0" marL="0">
              <a:buNone/>
            </a:pPr>
            <a:r>
              <a:rPr lang="en-US" sz="1400" dirty="0">
                <a:solidFill>
                  <a:schemeClr val="tx1"/>
                </a:solidFill>
              </a:rPr>
              <a:t>Rows stay with their headers and units. Overlap protects values near a boundary.</a:t>
            </a:r>
            <a:endParaRPr lang="en-US" sz="1400" dirty="0"/>
          </a:p>
        </p:txBody>
      </p:sp>
      <p:sp>
        <p:nvSpPr>
          <p:cNvPr id="11" name="code-card"/>
          <p:cNvSpPr/>
          <p:nvPr/>
        </p:nvSpPr>
        <p:spPr>
          <a:xfrm>
            <a:off x="457200" y="3566160"/>
            <a:ext cx="4846320" cy="1005840"/>
          </a:xfrm>
          <a:prstGeom prst="roundRect">
            <a:avLst>
              <a:gd name="adj" fmla="val 9091"/>
            </a:avLst>
          </a:prstGeom>
          <a:solidFill>
            <a:schemeClr val="tx1"/>
          </a:solidFill>
          <a:ln/>
        </p:spPr>
      </p:sp>
      <p:sp>
        <p:nvSpPr>
          <p:cNvPr id="12" name="Text 10"/>
          <p:cNvSpPr txBox="1"/>
          <p:nvPr/>
        </p:nvSpPr>
        <p:spPr>
          <a:xfrm>
            <a:off x="640080" y="3703320"/>
            <a:ext cx="4480560" cy="731520"/>
          </a:xfrm>
          <a:prstGeom prst="rect">
            <a:avLst/>
          </a:prstGeom>
          <a:noFill/>
          <a:ln/>
        </p:spPr>
        <p:txBody>
          <a:bodyPr wrap="square" lIns="0" tIns="0" rIns="0" bIns="0" rtlCol="0" anchor="t"/>
          <a:lstStyle/>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RecursiveCharacterTextSplitter(</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chunk_size=1200, chunk_overlap=250,</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separators=["\n\n","\n",". "," ",""])</a:t>
            </a:r>
            <a:endParaRPr lang="en-US" sz="1200" dirty="0"/>
          </a:p>
        </p:txBody>
      </p:sp>
      <p:sp>
        <p:nvSpPr>
          <p:cNvPr id="13" name="Text 11"/>
          <p:cNvSpPr txBox="1"/>
          <p:nvPr/>
        </p:nvSpPr>
        <p:spPr>
          <a:xfrm>
            <a:off x="5532120" y="3566160"/>
            <a:ext cx="3154680" cy="1005840"/>
          </a:xfrm>
          <a:prstGeom prst="rect">
            <a:avLst/>
          </a:prstGeom>
          <a:noFill/>
          <a:ln/>
        </p:spPr>
        <p:txBody>
          <a:bodyPr wrap="square" lIns="0" tIns="0" rIns="0" bIns="0" rtlCol="0" anchor="ctr"/>
          <a:lstStyle/>
          <a:p>
            <a:pPr indent="0" marL="0">
              <a:buNone/>
            </a:pPr>
            <a:r>
              <a:rPr lang="en-US" sz="1400" b="1" dirty="0">
                <a:solidFill>
                  <a:schemeClr val="tx2"/>
                </a:solidFill>
              </a:rPr>
              <a:t>Tune and verify: print chunks around tables, then change the two numbers until labels and values stay together.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Steps 4-5: embed, store, retrieve</a:t>
            </a:r>
            <a:endParaRPr lang="en-US" sz="3200" dirty="0"/>
          </a:p>
        </p:txBody>
      </p:sp>
      <p:sp>
        <p:nvSpPr>
          <p:cNvPr id="3" name="step-card"/>
          <p:cNvSpPr/>
          <p:nvPr/>
        </p:nvSpPr>
        <p:spPr>
          <a:xfrm>
            <a:off x="457200" y="1280160"/>
            <a:ext cx="1874520" cy="201168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640080" y="1417320"/>
            <a:ext cx="502920" cy="502920"/>
          </a:xfrm>
          <a:prstGeom prst="ellipse">
            <a:avLst/>
          </a:prstGeom>
          <a:solidFill>
            <a:schemeClr val="accent3"/>
          </a:solidFill>
          <a:ln/>
        </p:spPr>
      </p:sp>
      <p:pic>
        <p:nvPicPr>
          <p:cNvPr id="5" name="Image 0" descr="icon">    </p:cNvPr>
          <p:cNvPicPr>
            <a:picLocks noChangeAspect="1"/>
          </p:cNvPicPr>
          <p:nvPr/>
        </p:nvPicPr>
        <p:blipFill>
          <a:blip r:embed="rId1"/>
          <a:stretch>
            <a:fillRect/>
          </a:stretch>
        </p:blipFill>
        <p:spPr>
          <a:xfrm>
            <a:off x="765810" y="1543050"/>
            <a:ext cx="251460" cy="251460"/>
          </a:xfrm>
          <a:prstGeom prst="rect">
            <a:avLst/>
          </a:prstGeom>
        </p:spPr>
      </p:pic>
      <p:sp>
        <p:nvSpPr>
          <p:cNvPr id="6" name="Text 3"/>
          <p:cNvSpPr txBox="1"/>
          <p:nvPr/>
        </p:nvSpPr>
        <p:spPr>
          <a:xfrm>
            <a:off x="640080" y="2057400"/>
            <a:ext cx="1554480" cy="320040"/>
          </a:xfrm>
          <a:prstGeom prst="rect">
            <a:avLst/>
          </a:prstGeom>
          <a:noFill/>
          <a:ln/>
        </p:spPr>
        <p:txBody>
          <a:bodyPr wrap="square" lIns="0" tIns="0" rIns="0" bIns="0" rtlCol="0" anchor="t"/>
          <a:lstStyle/>
          <a:p>
            <a:pPr indent="0" marL="0">
              <a:buNone/>
            </a:pPr>
            <a:r>
              <a:rPr lang="en-US" sz="1600" b="1" dirty="0">
                <a:solidFill>
                  <a:schemeClr val="tx2"/>
                </a:solidFill>
              </a:rPr>
              <a:t>Chunks</a:t>
            </a:r>
            <a:endParaRPr lang="en-US" sz="1600" dirty="0"/>
          </a:p>
        </p:txBody>
      </p:sp>
      <p:sp>
        <p:nvSpPr>
          <p:cNvPr id="7" name="Text 4"/>
          <p:cNvSpPr txBox="1"/>
          <p:nvPr/>
        </p:nvSpPr>
        <p:spPr>
          <a:xfrm>
            <a:off x="640080" y="2423160"/>
            <a:ext cx="1554480" cy="822960"/>
          </a:xfrm>
          <a:prstGeom prst="rect">
            <a:avLst/>
          </a:prstGeom>
          <a:noFill/>
          <a:ln/>
        </p:spPr>
        <p:txBody>
          <a:bodyPr wrap="square" lIns="0" tIns="0" rIns="0" bIns="0" rtlCol="0" anchor="t"/>
          <a:lstStyle/>
          <a:p>
            <a:pPr indent="0" marL="0">
              <a:buNone/>
            </a:pPr>
            <a:r>
              <a:rPr lang="en-US" sz="1300" dirty="0">
                <a:solidFill>
                  <a:schemeClr val="tx1"/>
                </a:solidFill>
              </a:rPr>
              <a:t>Pieces of the report with page metadata.</a:t>
            </a:r>
            <a:endParaRPr lang="en-US" sz="1300" dirty="0"/>
          </a:p>
        </p:txBody>
      </p:sp>
      <p:sp>
        <p:nvSpPr>
          <p:cNvPr id="8" name="arrow"/>
          <p:cNvSpPr/>
          <p:nvPr/>
        </p:nvSpPr>
        <p:spPr>
          <a:xfrm>
            <a:off x="2350008" y="2286000"/>
            <a:ext cx="237744" cy="0"/>
          </a:xfrm>
          <a:prstGeom prst="line">
            <a:avLst/>
          </a:prstGeom>
          <a:noFill/>
          <a:ln w="22225">
            <a:solidFill>
              <a:schemeClr val="accent5"/>
            </a:solidFill>
            <a:prstDash val="solid"/>
            <a:tailEnd type="triangle"/>
          </a:ln>
        </p:spPr>
      </p:sp>
      <p:sp>
        <p:nvSpPr>
          <p:cNvPr id="9" name="step-card"/>
          <p:cNvSpPr/>
          <p:nvPr/>
        </p:nvSpPr>
        <p:spPr>
          <a:xfrm>
            <a:off x="2606040" y="1280160"/>
            <a:ext cx="1874520" cy="201168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circle"/>
          <p:cNvSpPr/>
          <p:nvPr/>
        </p:nvSpPr>
        <p:spPr>
          <a:xfrm>
            <a:off x="2788920" y="1417320"/>
            <a:ext cx="502920" cy="50292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2914650" y="1543050"/>
            <a:ext cx="251460" cy="251460"/>
          </a:xfrm>
          <a:prstGeom prst="rect">
            <a:avLst/>
          </a:prstGeom>
        </p:spPr>
      </p:pic>
      <p:sp>
        <p:nvSpPr>
          <p:cNvPr id="12" name="Text 8"/>
          <p:cNvSpPr txBox="1"/>
          <p:nvPr/>
        </p:nvSpPr>
        <p:spPr>
          <a:xfrm>
            <a:off x="2788920" y="2057400"/>
            <a:ext cx="1554480" cy="320040"/>
          </a:xfrm>
          <a:prstGeom prst="rect">
            <a:avLst/>
          </a:prstGeom>
          <a:noFill/>
          <a:ln/>
        </p:spPr>
        <p:txBody>
          <a:bodyPr wrap="square" lIns="0" tIns="0" rIns="0" bIns="0" rtlCol="0" anchor="t"/>
          <a:lstStyle/>
          <a:p>
            <a:pPr indent="0" marL="0">
              <a:buNone/>
            </a:pPr>
            <a:r>
              <a:rPr lang="en-US" sz="1600" b="1" dirty="0">
                <a:solidFill>
                  <a:schemeClr val="tx2"/>
                </a:solidFill>
              </a:rPr>
              <a:t>Embeddings</a:t>
            </a:r>
            <a:endParaRPr lang="en-US" sz="1600" dirty="0"/>
          </a:p>
        </p:txBody>
      </p:sp>
      <p:sp>
        <p:nvSpPr>
          <p:cNvPr id="13" name="Text 9"/>
          <p:cNvSpPr txBox="1"/>
          <p:nvPr/>
        </p:nvSpPr>
        <p:spPr>
          <a:xfrm>
            <a:off x="2788920" y="2423160"/>
            <a:ext cx="1554480" cy="822960"/>
          </a:xfrm>
          <a:prstGeom prst="rect">
            <a:avLst/>
          </a:prstGeom>
          <a:noFill/>
          <a:ln/>
        </p:spPr>
        <p:txBody>
          <a:bodyPr wrap="square" lIns="0" tIns="0" rIns="0" bIns="0" rtlCol="0" anchor="t"/>
          <a:lstStyle/>
          <a:p>
            <a:pPr indent="0" marL="0">
              <a:buNone/>
            </a:pPr>
            <a:r>
              <a:rPr lang="en-US" sz="1300" dirty="0">
                <a:solidFill>
                  <a:schemeClr val="tx1"/>
                </a:solidFill>
              </a:rPr>
              <a:t>nomic-embed-text maps each chunk to a vector.</a:t>
            </a:r>
            <a:endParaRPr lang="en-US" sz="1300" dirty="0"/>
          </a:p>
        </p:txBody>
      </p:sp>
      <p:sp>
        <p:nvSpPr>
          <p:cNvPr id="14" name="arrow"/>
          <p:cNvSpPr/>
          <p:nvPr/>
        </p:nvSpPr>
        <p:spPr>
          <a:xfrm>
            <a:off x="4498848" y="2286000"/>
            <a:ext cx="237744" cy="0"/>
          </a:xfrm>
          <a:prstGeom prst="line">
            <a:avLst/>
          </a:prstGeom>
          <a:noFill/>
          <a:ln w="22225">
            <a:solidFill>
              <a:schemeClr val="accent5"/>
            </a:solidFill>
            <a:prstDash val="solid"/>
            <a:tailEnd type="triangle"/>
          </a:ln>
        </p:spPr>
      </p:sp>
      <p:sp>
        <p:nvSpPr>
          <p:cNvPr id="15" name="step-card"/>
          <p:cNvSpPr/>
          <p:nvPr/>
        </p:nvSpPr>
        <p:spPr>
          <a:xfrm>
            <a:off x="4754880" y="1280160"/>
            <a:ext cx="1874520" cy="201168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icon-circle"/>
          <p:cNvSpPr/>
          <p:nvPr/>
        </p:nvSpPr>
        <p:spPr>
          <a:xfrm>
            <a:off x="4937760" y="1417320"/>
            <a:ext cx="502920" cy="502920"/>
          </a:xfrm>
          <a:prstGeom prst="ellipse">
            <a:avLst/>
          </a:prstGeom>
          <a:solidFill>
            <a:schemeClr val="tx2"/>
          </a:solidFill>
          <a:ln/>
        </p:spPr>
      </p:sp>
      <p:pic>
        <p:nvPicPr>
          <p:cNvPr id="17" name="Image 2" descr="icon">    </p:cNvPr>
          <p:cNvPicPr>
            <a:picLocks noChangeAspect="1"/>
          </p:cNvPicPr>
          <p:nvPr/>
        </p:nvPicPr>
        <p:blipFill>
          <a:blip r:embed="rId3"/>
          <a:stretch>
            <a:fillRect/>
          </a:stretch>
        </p:blipFill>
        <p:spPr>
          <a:xfrm>
            <a:off x="5063490" y="1543050"/>
            <a:ext cx="251460" cy="251460"/>
          </a:xfrm>
          <a:prstGeom prst="rect">
            <a:avLst/>
          </a:prstGeom>
        </p:spPr>
      </p:pic>
      <p:sp>
        <p:nvSpPr>
          <p:cNvPr id="18" name="Text 13"/>
          <p:cNvSpPr txBox="1"/>
          <p:nvPr/>
        </p:nvSpPr>
        <p:spPr>
          <a:xfrm>
            <a:off x="4937760" y="2057400"/>
            <a:ext cx="1554480" cy="320040"/>
          </a:xfrm>
          <a:prstGeom prst="rect">
            <a:avLst/>
          </a:prstGeom>
          <a:noFill/>
          <a:ln/>
        </p:spPr>
        <p:txBody>
          <a:bodyPr wrap="square" lIns="0" tIns="0" rIns="0" bIns="0" rtlCol="0" anchor="t"/>
          <a:lstStyle/>
          <a:p>
            <a:pPr indent="0" marL="0">
              <a:buNone/>
            </a:pPr>
            <a:r>
              <a:rPr lang="en-US" sz="1600" b="1" dirty="0">
                <a:solidFill>
                  <a:schemeClr val="tx2"/>
                </a:solidFill>
              </a:rPr>
              <a:t>Chroma</a:t>
            </a:r>
            <a:endParaRPr lang="en-US" sz="1600" dirty="0"/>
          </a:p>
        </p:txBody>
      </p:sp>
      <p:sp>
        <p:nvSpPr>
          <p:cNvPr id="19" name="Text 14"/>
          <p:cNvSpPr txBox="1"/>
          <p:nvPr/>
        </p:nvSpPr>
        <p:spPr>
          <a:xfrm>
            <a:off x="4937760" y="2423160"/>
            <a:ext cx="1554480" cy="822960"/>
          </a:xfrm>
          <a:prstGeom prst="rect">
            <a:avLst/>
          </a:prstGeom>
          <a:noFill/>
          <a:ln/>
        </p:spPr>
        <p:txBody>
          <a:bodyPr wrap="square" lIns="0" tIns="0" rIns="0" bIns="0" rtlCol="0" anchor="t"/>
          <a:lstStyle/>
          <a:p>
            <a:pPr indent="0" marL="0">
              <a:buNone/>
            </a:pPr>
            <a:r>
              <a:rPr lang="en-US" sz="1300" dirty="0">
                <a:solidFill>
                  <a:schemeClr val="tx1"/>
                </a:solidFill>
              </a:rPr>
              <a:t>Vectors saved to disk, so we ingest only once.</a:t>
            </a:r>
            <a:endParaRPr lang="en-US" sz="1300" dirty="0"/>
          </a:p>
        </p:txBody>
      </p:sp>
      <p:sp>
        <p:nvSpPr>
          <p:cNvPr id="20" name="arrow"/>
          <p:cNvSpPr/>
          <p:nvPr/>
        </p:nvSpPr>
        <p:spPr>
          <a:xfrm>
            <a:off x="6647688" y="2286000"/>
            <a:ext cx="237744" cy="0"/>
          </a:xfrm>
          <a:prstGeom prst="line">
            <a:avLst/>
          </a:prstGeom>
          <a:noFill/>
          <a:ln w="22225">
            <a:solidFill>
              <a:schemeClr val="accent5"/>
            </a:solidFill>
            <a:prstDash val="solid"/>
            <a:tailEnd type="triangle"/>
          </a:ln>
        </p:spPr>
      </p:sp>
      <p:sp>
        <p:nvSpPr>
          <p:cNvPr id="21" name="step-card"/>
          <p:cNvSpPr/>
          <p:nvPr/>
        </p:nvSpPr>
        <p:spPr>
          <a:xfrm>
            <a:off x="6903720" y="1280160"/>
            <a:ext cx="1874520" cy="201168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icon-circle"/>
          <p:cNvSpPr/>
          <p:nvPr/>
        </p:nvSpPr>
        <p:spPr>
          <a:xfrm>
            <a:off x="7086600" y="1417320"/>
            <a:ext cx="502920" cy="502920"/>
          </a:xfrm>
          <a:prstGeom prst="ellipse">
            <a:avLst/>
          </a:prstGeom>
          <a:solidFill>
            <a:schemeClr val="accent5"/>
          </a:solidFill>
          <a:ln/>
        </p:spPr>
      </p:sp>
      <p:pic>
        <p:nvPicPr>
          <p:cNvPr id="23" name="Image 3" descr="icon">    </p:cNvPr>
          <p:cNvPicPr>
            <a:picLocks noChangeAspect="1"/>
          </p:cNvPicPr>
          <p:nvPr/>
        </p:nvPicPr>
        <p:blipFill>
          <a:blip r:embed="rId4"/>
          <a:stretch>
            <a:fillRect/>
          </a:stretch>
        </p:blipFill>
        <p:spPr>
          <a:xfrm>
            <a:off x="7212330" y="1543050"/>
            <a:ext cx="251460" cy="251460"/>
          </a:xfrm>
          <a:prstGeom prst="rect">
            <a:avLst/>
          </a:prstGeom>
        </p:spPr>
      </p:pic>
      <p:sp>
        <p:nvSpPr>
          <p:cNvPr id="24" name="Text 18"/>
          <p:cNvSpPr txBox="1"/>
          <p:nvPr/>
        </p:nvSpPr>
        <p:spPr>
          <a:xfrm>
            <a:off x="7086600" y="2057400"/>
            <a:ext cx="1554480" cy="320040"/>
          </a:xfrm>
          <a:prstGeom prst="rect">
            <a:avLst/>
          </a:prstGeom>
          <a:noFill/>
          <a:ln/>
        </p:spPr>
        <p:txBody>
          <a:bodyPr wrap="square" lIns="0" tIns="0" rIns="0" bIns="0" rtlCol="0" anchor="t"/>
          <a:lstStyle/>
          <a:p>
            <a:pPr indent="0" marL="0">
              <a:buNone/>
            </a:pPr>
            <a:r>
              <a:rPr lang="en-US" sz="1600" b="1" dirty="0">
                <a:solidFill>
                  <a:schemeClr val="tx2"/>
                </a:solidFill>
              </a:rPr>
              <a:t>Retriever</a:t>
            </a:r>
            <a:endParaRPr lang="en-US" sz="1600" dirty="0"/>
          </a:p>
        </p:txBody>
      </p:sp>
      <p:sp>
        <p:nvSpPr>
          <p:cNvPr id="25" name="Text 19"/>
          <p:cNvSpPr txBox="1"/>
          <p:nvPr/>
        </p:nvSpPr>
        <p:spPr>
          <a:xfrm>
            <a:off x="7086600" y="2423160"/>
            <a:ext cx="1554480" cy="822960"/>
          </a:xfrm>
          <a:prstGeom prst="rect">
            <a:avLst/>
          </a:prstGeom>
          <a:noFill/>
          <a:ln/>
        </p:spPr>
        <p:txBody>
          <a:bodyPr wrap="square" lIns="0" tIns="0" rIns="0" bIns="0" rtlCol="0" anchor="t"/>
          <a:lstStyle/>
          <a:p>
            <a:pPr indent="0" marL="0">
              <a:buNone/>
            </a:pPr>
            <a:r>
              <a:rPr lang="en-US" sz="1300" dirty="0">
                <a:solidFill>
                  <a:schemeClr val="tx1"/>
                </a:solidFill>
              </a:rPr>
              <a:t>as_retriever(k=3) returns the 3 closest chunks.</a:t>
            </a:r>
            <a:endParaRPr lang="en-US" sz="1300" dirty="0"/>
          </a:p>
        </p:txBody>
      </p:sp>
      <p:sp>
        <p:nvSpPr>
          <p:cNvPr id="26" name="test-callout"/>
          <p:cNvSpPr/>
          <p:nvPr/>
        </p:nvSpPr>
        <p:spPr>
          <a:xfrm>
            <a:off x="457200" y="3566160"/>
            <a:ext cx="8229600" cy="1005840"/>
          </a:xfrm>
          <a:prstGeom prst="roundRect">
            <a:avLst>
              <a:gd name="adj" fmla="val 9091"/>
            </a:avLst>
          </a:prstGeom>
          <a:solidFill>
            <a:schemeClr val="accent2"/>
          </a:solidFill>
          <a:ln/>
        </p:spPr>
      </p:sp>
      <p:sp>
        <p:nvSpPr>
          <p:cNvPr id="27" name="Text 21"/>
          <p:cNvSpPr txBox="1"/>
          <p:nvPr/>
        </p:nvSpPr>
        <p:spPr>
          <a:xfrm>
            <a:off x="685800" y="3657600"/>
            <a:ext cx="7772400" cy="274320"/>
          </a:xfrm>
          <a:prstGeom prst="rect">
            <a:avLst/>
          </a:prstGeom>
          <a:noFill/>
          <a:ln/>
        </p:spPr>
        <p:txBody>
          <a:bodyPr wrap="square" lIns="0" tIns="0" rIns="0" bIns="0" rtlCol="0" anchor="t"/>
          <a:lstStyle/>
          <a:p>
            <a:pPr indent="0" marL="0">
              <a:buNone/>
            </a:pPr>
            <a:r>
              <a:rPr lang="en-US" sz="1400" b="1" dirty="0">
                <a:solidFill>
                  <a:schemeClr val="tx1"/>
                </a:solidFill>
              </a:rPr>
              <a:t>Test before moving on</a:t>
            </a:r>
            <a:endParaRPr lang="en-US" sz="1400" dirty="0"/>
          </a:p>
        </p:txBody>
      </p:sp>
      <p:sp>
        <p:nvSpPr>
          <p:cNvPr id="28" name="Text 22"/>
          <p:cNvSpPr txBox="1"/>
          <p:nvPr/>
        </p:nvSpPr>
        <p:spPr>
          <a:xfrm>
            <a:off x="685800" y="3977640"/>
            <a:ext cx="7772400" cy="457200"/>
          </a:xfrm>
          <a:prstGeom prst="rect">
            <a:avLst/>
          </a:prstGeom>
          <a:noFill/>
          <a:ln/>
        </p:spPr>
        <p:txBody>
          <a:bodyPr wrap="square" lIns="0" tIns="0" rIns="0" bIns="0" rtlCol="0" anchor="t"/>
          <a:lstStyle/>
          <a:p>
            <a:pPr indent="0" marL="0">
              <a:buNone/>
            </a:pPr>
            <a:r>
              <a:rPr lang="en-US" sz="1500" dirty="0">
                <a:solidFill>
                  <a:schemeClr val="tx1"/>
                </a:solidFill>
              </a:rPr>
              <a:t>python ingest.py --test "what was revenue in Q2"  must return the correct page.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Steps 6-7: custom tools</a:t>
            </a:r>
            <a:endParaRPr lang="en-US" sz="3200" dirty="0"/>
          </a:p>
        </p:txBody>
      </p:sp>
      <p:sp>
        <p:nvSpPr>
          <p:cNvPr id="3" name="tool-card"/>
          <p:cNvSpPr/>
          <p:nvPr/>
        </p:nvSpPr>
        <p:spPr>
          <a:xfrm>
            <a:off x="457200" y="1234440"/>
            <a:ext cx="2560320" cy="2834640"/>
          </a:xfrm>
          <a:prstGeom prst="roundRect">
            <a:avLst>
              <a:gd name="adj" fmla="val 4286"/>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640080" y="1371600"/>
            <a:ext cx="502920" cy="502920"/>
          </a:xfrm>
          <a:prstGeom prst="ellipse">
            <a:avLst/>
          </a:prstGeom>
          <a:solidFill>
            <a:schemeClr val="accent5"/>
          </a:solidFill>
          <a:ln/>
        </p:spPr>
      </p:sp>
      <p:pic>
        <p:nvPicPr>
          <p:cNvPr id="5" name="Image 0" descr="icon">    </p:cNvPr>
          <p:cNvPicPr>
            <a:picLocks noChangeAspect="1"/>
          </p:cNvPicPr>
          <p:nvPr/>
        </p:nvPicPr>
        <p:blipFill>
          <a:blip r:embed="rId1"/>
          <a:stretch>
            <a:fillRect/>
          </a:stretch>
        </p:blipFill>
        <p:spPr>
          <a:xfrm>
            <a:off x="765810" y="1497330"/>
            <a:ext cx="251460" cy="251460"/>
          </a:xfrm>
          <a:prstGeom prst="rect">
            <a:avLst/>
          </a:prstGeom>
        </p:spPr>
      </p:pic>
      <p:sp>
        <p:nvSpPr>
          <p:cNvPr id="6" name="tag"/>
          <p:cNvSpPr/>
          <p:nvPr/>
        </p:nvSpPr>
        <p:spPr>
          <a:xfrm>
            <a:off x="2057400" y="1481328"/>
            <a:ext cx="777240" cy="292608"/>
          </a:xfrm>
          <a:prstGeom prst="roundRect">
            <a:avLst>
              <a:gd name="adj" fmla="val 50000"/>
            </a:avLst>
          </a:prstGeom>
          <a:solidFill>
            <a:schemeClr val="accent5"/>
          </a:solidFill>
          <a:ln/>
        </p:spPr>
      </p:sp>
      <p:sp>
        <p:nvSpPr>
          <p:cNvPr id="7" name="Text 4"/>
          <p:cNvSpPr txBox="1"/>
          <p:nvPr/>
        </p:nvSpPr>
        <p:spPr>
          <a:xfrm>
            <a:off x="2057400" y="1481328"/>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LIVE</a:t>
            </a:r>
            <a:endParaRPr lang="en-US" sz="1100" dirty="0"/>
          </a:p>
        </p:txBody>
      </p:sp>
      <p:sp>
        <p:nvSpPr>
          <p:cNvPr id="8" name="Text 5"/>
          <p:cNvSpPr txBox="1"/>
          <p:nvPr/>
        </p:nvSpPr>
        <p:spPr>
          <a:xfrm>
            <a:off x="640080" y="2057400"/>
            <a:ext cx="2240280" cy="5029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get_stock_price</a:t>
            </a:r>
            <a:endParaRPr lang="en-US" sz="1400" dirty="0"/>
          </a:p>
        </p:txBody>
      </p:sp>
      <p:sp>
        <p:nvSpPr>
          <p:cNvPr id="9" name="Text 6"/>
          <p:cNvSpPr txBox="1"/>
          <p:nvPr/>
        </p:nvSpPr>
        <p:spPr>
          <a:xfrm>
            <a:off x="640080" y="2606040"/>
            <a:ext cx="2240280" cy="548640"/>
          </a:xfrm>
          <a:prstGeom prst="rect">
            <a:avLst/>
          </a:prstGeom>
          <a:noFill/>
          <a:ln/>
        </p:spPr>
        <p:txBody>
          <a:bodyPr wrap="square" lIns="0" tIns="0" rIns="0" bIns="0" rtlCol="0" anchor="t"/>
          <a:lstStyle/>
          <a:p>
            <a:pPr indent="0" marL="0">
              <a:buNone/>
            </a:pPr>
            <a:r>
              <a:rPr lang="en-US" sz="1300" dirty="0">
                <a:solidFill>
                  <a:schemeClr val="tx1"/>
                </a:solidFill>
              </a:rPr>
              <a:t>In: ticker such as RELIANCE.NS or AAPL.</a:t>
            </a:r>
            <a:endParaRPr lang="en-US" sz="1300" dirty="0"/>
          </a:p>
        </p:txBody>
      </p:sp>
      <p:sp>
        <p:nvSpPr>
          <p:cNvPr id="10" name="Text 7"/>
          <p:cNvSpPr txBox="1"/>
          <p:nvPr/>
        </p:nvSpPr>
        <p:spPr>
          <a:xfrm>
            <a:off x="640080" y="3200400"/>
            <a:ext cx="2240280" cy="822960"/>
          </a:xfrm>
          <a:prstGeom prst="rect">
            <a:avLst/>
          </a:prstGeom>
          <a:noFill/>
          <a:ln/>
        </p:spPr>
        <p:txBody>
          <a:bodyPr wrap="square" lIns="0" tIns="0" rIns="0" bIns="0" rtlCol="0" anchor="t"/>
          <a:lstStyle/>
          <a:p>
            <a:pPr indent="0" marL="0">
              <a:buNone/>
            </a:pPr>
            <a:r>
              <a:rPr lang="en-US" sz="1300" dirty="0">
                <a:solidFill>
                  <a:schemeClr val="tx1"/>
                </a:solidFill>
              </a:rPr>
              <a:t>Out: price per share with currency (INR for .NS/.BO, USD for US).</a:t>
            </a:r>
            <a:endParaRPr lang="en-US" sz="1300" dirty="0"/>
          </a:p>
        </p:txBody>
      </p:sp>
      <p:sp>
        <p:nvSpPr>
          <p:cNvPr id="11" name="tool-card"/>
          <p:cNvSpPr/>
          <p:nvPr/>
        </p:nvSpPr>
        <p:spPr>
          <a:xfrm>
            <a:off x="3291840" y="1234440"/>
            <a:ext cx="2560320" cy="2834640"/>
          </a:xfrm>
          <a:prstGeom prst="roundRect">
            <a:avLst>
              <a:gd name="adj" fmla="val 4286"/>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icon-circle"/>
          <p:cNvSpPr/>
          <p:nvPr/>
        </p:nvSpPr>
        <p:spPr>
          <a:xfrm>
            <a:off x="3474720" y="1371600"/>
            <a:ext cx="502920" cy="502920"/>
          </a:xfrm>
          <a:prstGeom prst="ellipse">
            <a:avLst/>
          </a:prstGeom>
          <a:solidFill>
            <a:schemeClr val="accent5"/>
          </a:solidFill>
          <a:ln/>
        </p:spPr>
      </p:sp>
      <p:pic>
        <p:nvPicPr>
          <p:cNvPr id="13" name="Image 1" descr="icon">    </p:cNvPr>
          <p:cNvPicPr>
            <a:picLocks noChangeAspect="1"/>
          </p:cNvPicPr>
          <p:nvPr/>
        </p:nvPicPr>
        <p:blipFill>
          <a:blip r:embed="rId2"/>
          <a:stretch>
            <a:fillRect/>
          </a:stretch>
        </p:blipFill>
        <p:spPr>
          <a:xfrm>
            <a:off x="3600450" y="1497330"/>
            <a:ext cx="251460" cy="251460"/>
          </a:xfrm>
          <a:prstGeom prst="rect">
            <a:avLst/>
          </a:prstGeom>
        </p:spPr>
      </p:pic>
      <p:sp>
        <p:nvSpPr>
          <p:cNvPr id="14" name="tag"/>
          <p:cNvSpPr/>
          <p:nvPr/>
        </p:nvSpPr>
        <p:spPr>
          <a:xfrm>
            <a:off x="4892040" y="1481328"/>
            <a:ext cx="777240" cy="292608"/>
          </a:xfrm>
          <a:prstGeom prst="roundRect">
            <a:avLst>
              <a:gd name="adj" fmla="val 50000"/>
            </a:avLst>
          </a:prstGeom>
          <a:solidFill>
            <a:schemeClr val="accent5"/>
          </a:solidFill>
          <a:ln/>
        </p:spPr>
      </p:sp>
      <p:sp>
        <p:nvSpPr>
          <p:cNvPr id="15" name="Text 11"/>
          <p:cNvSpPr txBox="1"/>
          <p:nvPr/>
        </p:nvSpPr>
        <p:spPr>
          <a:xfrm>
            <a:off x="4892040" y="1481328"/>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LIVE</a:t>
            </a:r>
            <a:endParaRPr lang="en-US" sz="1100" dirty="0"/>
          </a:p>
        </p:txBody>
      </p:sp>
      <p:sp>
        <p:nvSpPr>
          <p:cNvPr id="16" name="Text 12"/>
          <p:cNvSpPr txBox="1"/>
          <p:nvPr/>
        </p:nvSpPr>
        <p:spPr>
          <a:xfrm>
            <a:off x="3474720" y="2057400"/>
            <a:ext cx="2240280" cy="5029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get_stock_news</a:t>
            </a:r>
            <a:endParaRPr lang="en-US" sz="1400" dirty="0"/>
          </a:p>
        </p:txBody>
      </p:sp>
      <p:sp>
        <p:nvSpPr>
          <p:cNvPr id="17" name="Text 13"/>
          <p:cNvSpPr txBox="1"/>
          <p:nvPr/>
        </p:nvSpPr>
        <p:spPr>
          <a:xfrm>
            <a:off x="3474720" y="2606040"/>
            <a:ext cx="2240280" cy="548640"/>
          </a:xfrm>
          <a:prstGeom prst="rect">
            <a:avLst/>
          </a:prstGeom>
          <a:noFill/>
          <a:ln/>
        </p:spPr>
        <p:txBody>
          <a:bodyPr wrap="square" lIns="0" tIns="0" rIns="0" bIns="0" rtlCol="0" anchor="t"/>
          <a:lstStyle/>
          <a:p>
            <a:pPr indent="0" marL="0">
              <a:buNone/>
            </a:pPr>
            <a:r>
              <a:rPr lang="en-US" sz="1300" dirty="0">
                <a:solidFill>
                  <a:schemeClr val="tx1"/>
                </a:solidFill>
              </a:rPr>
              <a:t>In: same ticker format.</a:t>
            </a:r>
            <a:endParaRPr lang="en-US" sz="1300" dirty="0"/>
          </a:p>
        </p:txBody>
      </p:sp>
      <p:sp>
        <p:nvSpPr>
          <p:cNvPr id="18" name="Text 14"/>
          <p:cNvSpPr txBox="1"/>
          <p:nvPr/>
        </p:nvSpPr>
        <p:spPr>
          <a:xfrm>
            <a:off x="3474720" y="3200400"/>
            <a:ext cx="2240280" cy="822960"/>
          </a:xfrm>
          <a:prstGeom prst="rect">
            <a:avLst/>
          </a:prstGeom>
          <a:noFill/>
          <a:ln/>
        </p:spPr>
        <p:txBody>
          <a:bodyPr wrap="square" lIns="0" tIns="0" rIns="0" bIns="0" rtlCol="0" anchor="t"/>
          <a:lstStyle/>
          <a:p>
            <a:pPr indent="0" marL="0">
              <a:buNone/>
            </a:pPr>
            <a:r>
              <a:rPr lang="en-US" sz="1300" dirty="0">
                <a:solidFill>
                  <a:schemeClr val="tx1"/>
                </a:solidFill>
              </a:rPr>
              <a:t>Out: up to 5 recent headlines with publisher.</a:t>
            </a:r>
            <a:endParaRPr lang="en-US" sz="1300" dirty="0"/>
          </a:p>
        </p:txBody>
      </p:sp>
      <p:sp>
        <p:nvSpPr>
          <p:cNvPr id="19" name="tool-card"/>
          <p:cNvSpPr/>
          <p:nvPr/>
        </p:nvSpPr>
        <p:spPr>
          <a:xfrm>
            <a:off x="6126480" y="1234440"/>
            <a:ext cx="2560320" cy="2834640"/>
          </a:xfrm>
          <a:prstGeom prst="roundRect">
            <a:avLst>
              <a:gd name="adj" fmla="val 4286"/>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icon-circle"/>
          <p:cNvSpPr/>
          <p:nvPr/>
        </p:nvSpPr>
        <p:spPr>
          <a:xfrm>
            <a:off x="6309360" y="1371600"/>
            <a:ext cx="502920" cy="502920"/>
          </a:xfrm>
          <a:prstGeom prst="ellipse">
            <a:avLst/>
          </a:prstGeom>
          <a:solidFill>
            <a:schemeClr val="accent1"/>
          </a:solidFill>
          <a:ln/>
        </p:spPr>
      </p:sp>
      <p:pic>
        <p:nvPicPr>
          <p:cNvPr id="21" name="Image 2" descr="icon">    </p:cNvPr>
          <p:cNvPicPr>
            <a:picLocks noChangeAspect="1"/>
          </p:cNvPicPr>
          <p:nvPr/>
        </p:nvPicPr>
        <p:blipFill>
          <a:blip r:embed="rId3"/>
          <a:stretch>
            <a:fillRect/>
          </a:stretch>
        </p:blipFill>
        <p:spPr>
          <a:xfrm>
            <a:off x="6435090" y="1497330"/>
            <a:ext cx="251460" cy="251460"/>
          </a:xfrm>
          <a:prstGeom prst="rect">
            <a:avLst/>
          </a:prstGeom>
        </p:spPr>
      </p:pic>
      <p:sp>
        <p:nvSpPr>
          <p:cNvPr id="22" name="tag"/>
          <p:cNvSpPr/>
          <p:nvPr/>
        </p:nvSpPr>
        <p:spPr>
          <a:xfrm>
            <a:off x="7726680" y="1481328"/>
            <a:ext cx="777240" cy="292608"/>
          </a:xfrm>
          <a:prstGeom prst="roundRect">
            <a:avLst>
              <a:gd name="adj" fmla="val 50000"/>
            </a:avLst>
          </a:prstGeom>
          <a:solidFill>
            <a:schemeClr val="accent1"/>
          </a:solidFill>
          <a:ln/>
        </p:spPr>
      </p:sp>
      <p:sp>
        <p:nvSpPr>
          <p:cNvPr id="23" name="Text 18"/>
          <p:cNvSpPr txBox="1"/>
          <p:nvPr/>
        </p:nvSpPr>
        <p:spPr>
          <a:xfrm>
            <a:off x="7726680" y="1481328"/>
            <a:ext cx="777240" cy="292608"/>
          </a:xfrm>
          <a:prstGeom prst="rect">
            <a:avLst/>
          </a:prstGeom>
          <a:noFill/>
          <a:ln/>
        </p:spPr>
        <p:txBody>
          <a:bodyPr wrap="square" lIns="0" tIns="0" rIns="0" bIns="0" rtlCol="0" anchor="ctr"/>
          <a:lstStyle/>
          <a:p>
            <a:pPr algn="ctr" indent="0" marL="0">
              <a:buNone/>
            </a:pPr>
            <a:r>
              <a:rPr lang="en-US" sz="1100" b="1" dirty="0">
                <a:solidFill>
                  <a:schemeClr val="bg1"/>
                </a:solidFill>
              </a:rPr>
              <a:t>STATIC</a:t>
            </a:r>
            <a:endParaRPr lang="en-US" sz="1100" dirty="0"/>
          </a:p>
        </p:txBody>
      </p:sp>
      <p:sp>
        <p:nvSpPr>
          <p:cNvPr id="24" name="Text 19"/>
          <p:cNvSpPr txBox="1"/>
          <p:nvPr/>
        </p:nvSpPr>
        <p:spPr>
          <a:xfrm>
            <a:off x="6309360" y="2057400"/>
            <a:ext cx="2240280" cy="5029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search_financial_</a:t>
            </a:r>
            <a:endParaRPr lang="en-US" sz="1400" dirty="0"/>
          </a:p>
          <a:p>
            <a:pPr indent="0" marL="0">
              <a:buNone/>
            </a:pPr>
            <a:r>
              <a:rPr lang="en-US" sz="1400" b="1" dirty="0">
                <a:solidFill>
                  <a:schemeClr val="tx2"/>
                </a:solidFill>
                <a:latin typeface="Courier New" pitchFamily="34" charset="0"/>
                <a:ea typeface="Courier New" pitchFamily="34" charset="-122"/>
                <a:cs typeface="Courier New" pitchFamily="34" charset="-120"/>
              </a:rPr>
              <a:t>documents</a:t>
            </a:r>
            <a:endParaRPr lang="en-US" sz="1400" dirty="0"/>
          </a:p>
        </p:txBody>
      </p:sp>
      <p:sp>
        <p:nvSpPr>
          <p:cNvPr id="25" name="Text 20"/>
          <p:cNvSpPr txBox="1"/>
          <p:nvPr/>
        </p:nvSpPr>
        <p:spPr>
          <a:xfrm>
            <a:off x="6309360" y="2606040"/>
            <a:ext cx="2240280" cy="548640"/>
          </a:xfrm>
          <a:prstGeom prst="rect">
            <a:avLst/>
          </a:prstGeom>
          <a:noFill/>
          <a:ln/>
        </p:spPr>
        <p:txBody>
          <a:bodyPr wrap="square" lIns="0" tIns="0" rIns="0" bIns="0" rtlCol="0" anchor="t"/>
          <a:lstStyle/>
          <a:p>
            <a:pPr indent="0" marL="0">
              <a:buNone/>
            </a:pPr>
            <a:r>
              <a:rPr lang="en-US" sz="1300" dirty="0">
                <a:solidFill>
                  <a:schemeClr val="tx1"/>
                </a:solidFill>
              </a:rPr>
              <a:t>In: a specific query, e.g. net profit FY24.</a:t>
            </a:r>
            <a:endParaRPr lang="en-US" sz="1300" dirty="0"/>
          </a:p>
        </p:txBody>
      </p:sp>
      <p:sp>
        <p:nvSpPr>
          <p:cNvPr id="26" name="Text 21"/>
          <p:cNvSpPr txBox="1"/>
          <p:nvPr/>
        </p:nvSpPr>
        <p:spPr>
          <a:xfrm>
            <a:off x="6309360" y="3200400"/>
            <a:ext cx="2240280" cy="822960"/>
          </a:xfrm>
          <a:prstGeom prst="rect">
            <a:avLst/>
          </a:prstGeom>
          <a:noFill/>
          <a:ln/>
        </p:spPr>
        <p:txBody>
          <a:bodyPr wrap="square" lIns="0" tIns="0" rIns="0" bIns="0" rtlCol="0" anchor="t"/>
          <a:lstStyle/>
          <a:p>
            <a:pPr indent="0" marL="0">
              <a:buNone/>
            </a:pPr>
            <a:r>
              <a:rPr lang="en-US" sz="1300" dirty="0">
                <a:solidFill>
                  <a:schemeClr val="tx1"/>
                </a:solidFill>
              </a:rPr>
              <a:t>Out: top 3 passages with file, page; document's own units.</a:t>
            </a:r>
            <a:endParaRPr lang="en-US" sz="1300" dirty="0"/>
          </a:p>
        </p:txBody>
      </p:sp>
      <p:sp>
        <p:nvSpPr>
          <p:cNvPr id="27" name="units-note"/>
          <p:cNvSpPr/>
          <p:nvPr/>
        </p:nvSpPr>
        <p:spPr>
          <a:xfrm>
            <a:off x="457200" y="4251960"/>
            <a:ext cx="8229600" cy="457200"/>
          </a:xfrm>
          <a:prstGeom prst="roundRect">
            <a:avLst>
              <a:gd name="adj" fmla="val 20000"/>
            </a:avLst>
          </a:prstGeom>
          <a:solidFill>
            <a:schemeClr val="bg2"/>
          </a:solidFill>
          <a:ln/>
        </p:spPr>
      </p:sp>
      <p:sp>
        <p:nvSpPr>
          <p:cNvPr id="28" name="Text 23"/>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300" b="1" dirty="0">
                <a:solidFill>
                  <a:schemeClr val="tx2"/>
                </a:solidFill>
              </a:rPr>
              <a:t>Docstrings state units clearly, and every result starts with a [SOURCE: LIVE ...] or [SOURCE: STATIC ...] tag.</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 8: the ReAct agent</a:t>
            </a:r>
            <a:endParaRPr lang="en-US" sz="3200" dirty="0"/>
          </a:p>
        </p:txBody>
      </p:sp>
      <p:sp>
        <p:nvSpPr>
          <p:cNvPr id="3" name="Text 1"/>
          <p:cNvSpPr txBox="1"/>
          <p:nvPr/>
        </p:nvSpPr>
        <p:spPr>
          <a:xfrm>
            <a:off x="457200" y="1188720"/>
            <a:ext cx="2743200" cy="274320"/>
          </a:xfrm>
          <a:prstGeom prst="rect">
            <a:avLst/>
          </a:prstGeom>
          <a:noFill/>
          <a:ln/>
        </p:spPr>
        <p:txBody>
          <a:bodyPr wrap="square" lIns="0" tIns="0" rIns="0" bIns="0" rtlCol="0" anchor="t"/>
          <a:lstStyle/>
          <a:p>
            <a:pPr indent="0" marL="0">
              <a:buNone/>
            </a:pPr>
            <a:r>
              <a:rPr lang="en-US" sz="1200" b="1" dirty="0">
                <a:solidFill>
                  <a:schemeClr val="accent5"/>
                </a:solidFill>
              </a:rPr>
              <a:t>THE LOOP</a:t>
            </a:r>
            <a:endParaRPr lang="en-US" sz="1200" dirty="0"/>
          </a:p>
        </p:txBody>
      </p:sp>
      <p:sp>
        <p:nvSpPr>
          <p:cNvPr id="4" name="loop-node"/>
          <p:cNvSpPr/>
          <p:nvPr/>
        </p:nvSpPr>
        <p:spPr>
          <a:xfrm>
            <a:off x="457200" y="1508760"/>
            <a:ext cx="3566160" cy="749808"/>
          </a:xfrm>
          <a:prstGeom prst="roundRect">
            <a:avLst>
              <a:gd name="adj" fmla="val 12195"/>
            </a:avLst>
          </a:prstGeom>
          <a:solidFill>
            <a:schemeClr val="tx2"/>
          </a:solidFill>
          <a:ln/>
        </p:spPr>
      </p:sp>
      <p:sp>
        <p:nvSpPr>
          <p:cNvPr id="5" name="Text 3"/>
          <p:cNvSpPr txBox="1"/>
          <p:nvPr/>
        </p:nvSpPr>
        <p:spPr>
          <a:xfrm>
            <a:off x="685800" y="1581912"/>
            <a:ext cx="3108960" cy="274320"/>
          </a:xfrm>
          <a:prstGeom prst="rect">
            <a:avLst/>
          </a:prstGeom>
          <a:noFill/>
          <a:ln/>
        </p:spPr>
        <p:txBody>
          <a:bodyPr wrap="square" lIns="0" tIns="0" rIns="0" bIns="0" rtlCol="0" anchor="t"/>
          <a:lstStyle/>
          <a:p>
            <a:pPr indent="0" marL="0">
              <a:buNone/>
            </a:pPr>
            <a:r>
              <a:rPr lang="en-US" sz="1600" b="1" dirty="0">
                <a:solidFill>
                  <a:schemeClr val="bg1"/>
                </a:solidFill>
              </a:rPr>
              <a:t>Reason</a:t>
            </a:r>
            <a:endParaRPr lang="en-US" sz="1600" dirty="0"/>
          </a:p>
        </p:txBody>
      </p:sp>
      <p:sp>
        <p:nvSpPr>
          <p:cNvPr id="6" name="Text 4"/>
          <p:cNvSpPr txBox="1"/>
          <p:nvPr/>
        </p:nvSpPr>
        <p:spPr>
          <a:xfrm>
            <a:off x="685800" y="1874520"/>
            <a:ext cx="3108960" cy="320040"/>
          </a:xfrm>
          <a:prstGeom prst="rect">
            <a:avLst/>
          </a:prstGeom>
          <a:noFill/>
          <a:ln/>
        </p:spPr>
        <p:txBody>
          <a:bodyPr wrap="square" lIns="0" tIns="0" rIns="0" bIns="0" rtlCol="0" anchor="t"/>
          <a:lstStyle/>
          <a:p>
            <a:pPr indent="0" marL="0">
              <a:buNone/>
            </a:pPr>
            <a:r>
              <a:rPr lang="en-US" sz="1400" dirty="0">
                <a:solidFill>
                  <a:schemeClr val="bg1"/>
                </a:solidFill>
              </a:rPr>
              <a:t>Live, static, or both?</a:t>
            </a:r>
            <a:endParaRPr lang="en-US" sz="1400" dirty="0"/>
          </a:p>
        </p:txBody>
      </p:sp>
      <p:sp>
        <p:nvSpPr>
          <p:cNvPr id="7" name="arrow"/>
          <p:cNvSpPr/>
          <p:nvPr/>
        </p:nvSpPr>
        <p:spPr>
          <a:xfrm>
            <a:off x="2240280" y="2276856"/>
            <a:ext cx="0" cy="237744"/>
          </a:xfrm>
          <a:prstGeom prst="line">
            <a:avLst/>
          </a:prstGeom>
          <a:noFill/>
          <a:ln w="22225">
            <a:solidFill>
              <a:schemeClr val="accent5"/>
            </a:solidFill>
            <a:prstDash val="solid"/>
            <a:tailEnd type="triangle"/>
          </a:ln>
        </p:spPr>
      </p:sp>
      <p:sp>
        <p:nvSpPr>
          <p:cNvPr id="8" name="loop-node"/>
          <p:cNvSpPr/>
          <p:nvPr/>
        </p:nvSpPr>
        <p:spPr>
          <a:xfrm>
            <a:off x="457200" y="2532888"/>
            <a:ext cx="3566160" cy="749808"/>
          </a:xfrm>
          <a:prstGeom prst="roundRect">
            <a:avLst>
              <a:gd name="adj" fmla="val 12195"/>
            </a:avLst>
          </a:prstGeom>
          <a:solidFill>
            <a:schemeClr val="accent1"/>
          </a:solidFill>
          <a:ln/>
        </p:spPr>
      </p:sp>
      <p:sp>
        <p:nvSpPr>
          <p:cNvPr id="9" name="Text 7"/>
          <p:cNvSpPr txBox="1"/>
          <p:nvPr/>
        </p:nvSpPr>
        <p:spPr>
          <a:xfrm>
            <a:off x="685800" y="2606040"/>
            <a:ext cx="3108960" cy="274320"/>
          </a:xfrm>
          <a:prstGeom prst="rect">
            <a:avLst/>
          </a:prstGeom>
          <a:noFill/>
          <a:ln/>
        </p:spPr>
        <p:txBody>
          <a:bodyPr wrap="square" lIns="0" tIns="0" rIns="0" bIns="0" rtlCol="0" anchor="t"/>
          <a:lstStyle/>
          <a:p>
            <a:pPr indent="0" marL="0">
              <a:buNone/>
            </a:pPr>
            <a:r>
              <a:rPr lang="en-US" sz="1600" b="1" dirty="0">
                <a:solidFill>
                  <a:schemeClr val="bg1"/>
                </a:solidFill>
              </a:rPr>
              <a:t>Act</a:t>
            </a:r>
            <a:endParaRPr lang="en-US" sz="1600" dirty="0"/>
          </a:p>
        </p:txBody>
      </p:sp>
      <p:sp>
        <p:nvSpPr>
          <p:cNvPr id="10" name="Text 8"/>
          <p:cNvSpPr txBox="1"/>
          <p:nvPr/>
        </p:nvSpPr>
        <p:spPr>
          <a:xfrm>
            <a:off x="685800" y="2898648"/>
            <a:ext cx="3108960" cy="320040"/>
          </a:xfrm>
          <a:prstGeom prst="rect">
            <a:avLst/>
          </a:prstGeom>
          <a:noFill/>
          <a:ln/>
        </p:spPr>
        <p:txBody>
          <a:bodyPr wrap="square" lIns="0" tIns="0" rIns="0" bIns="0" rtlCol="0" anchor="t"/>
          <a:lstStyle/>
          <a:p>
            <a:pPr indent="0" marL="0">
              <a:buNone/>
            </a:pPr>
            <a:r>
              <a:rPr lang="en-US" sz="1400" dirty="0">
                <a:solidFill>
                  <a:schemeClr val="bg1"/>
                </a:solidFill>
              </a:rPr>
              <a:t>Call a tool with arguments</a:t>
            </a:r>
            <a:endParaRPr lang="en-US" sz="1400" dirty="0"/>
          </a:p>
        </p:txBody>
      </p:sp>
      <p:sp>
        <p:nvSpPr>
          <p:cNvPr id="11" name="arrow"/>
          <p:cNvSpPr/>
          <p:nvPr/>
        </p:nvSpPr>
        <p:spPr>
          <a:xfrm>
            <a:off x="2240280" y="3300984"/>
            <a:ext cx="0" cy="237744"/>
          </a:xfrm>
          <a:prstGeom prst="line">
            <a:avLst/>
          </a:prstGeom>
          <a:noFill/>
          <a:ln w="22225">
            <a:solidFill>
              <a:schemeClr val="accent5"/>
            </a:solidFill>
            <a:prstDash val="solid"/>
            <a:tailEnd type="triangle"/>
          </a:ln>
        </p:spPr>
      </p:sp>
      <p:sp>
        <p:nvSpPr>
          <p:cNvPr id="12" name="loop-node"/>
          <p:cNvSpPr/>
          <p:nvPr/>
        </p:nvSpPr>
        <p:spPr>
          <a:xfrm>
            <a:off x="457200" y="3557016"/>
            <a:ext cx="3566160" cy="749808"/>
          </a:xfrm>
          <a:prstGeom prst="roundRect">
            <a:avLst>
              <a:gd name="adj" fmla="val 12195"/>
            </a:avLst>
          </a:prstGeom>
          <a:solidFill>
            <a:schemeClr val="accent3"/>
          </a:solidFill>
          <a:ln/>
        </p:spPr>
      </p:sp>
      <p:sp>
        <p:nvSpPr>
          <p:cNvPr id="13" name="Text 11"/>
          <p:cNvSpPr txBox="1"/>
          <p:nvPr/>
        </p:nvSpPr>
        <p:spPr>
          <a:xfrm>
            <a:off x="685800" y="3630168"/>
            <a:ext cx="3108960" cy="274320"/>
          </a:xfrm>
          <a:prstGeom prst="rect">
            <a:avLst/>
          </a:prstGeom>
          <a:noFill/>
          <a:ln/>
        </p:spPr>
        <p:txBody>
          <a:bodyPr wrap="square" lIns="0" tIns="0" rIns="0" bIns="0" rtlCol="0" anchor="t"/>
          <a:lstStyle/>
          <a:p>
            <a:pPr indent="0" marL="0">
              <a:buNone/>
            </a:pPr>
            <a:r>
              <a:rPr lang="en-US" sz="1600" b="1" dirty="0">
                <a:solidFill>
                  <a:schemeClr val="bg1"/>
                </a:solidFill>
              </a:rPr>
              <a:t>Observe</a:t>
            </a:r>
            <a:endParaRPr lang="en-US" sz="1600" dirty="0"/>
          </a:p>
        </p:txBody>
      </p:sp>
      <p:sp>
        <p:nvSpPr>
          <p:cNvPr id="14" name="Text 12"/>
          <p:cNvSpPr txBox="1"/>
          <p:nvPr/>
        </p:nvSpPr>
        <p:spPr>
          <a:xfrm>
            <a:off x="685800" y="3922776"/>
            <a:ext cx="3108960" cy="320040"/>
          </a:xfrm>
          <a:prstGeom prst="rect">
            <a:avLst/>
          </a:prstGeom>
          <a:noFill/>
          <a:ln/>
        </p:spPr>
        <p:txBody>
          <a:bodyPr wrap="square" lIns="0" tIns="0" rIns="0" bIns="0" rtlCol="0" anchor="t"/>
          <a:lstStyle/>
          <a:p>
            <a:pPr indent="0" marL="0">
              <a:buNone/>
            </a:pPr>
            <a:r>
              <a:rPr lang="en-US" sz="1400" dirty="0">
                <a:solidFill>
                  <a:schemeClr val="bg1"/>
                </a:solidFill>
              </a:rPr>
              <a:t>Read the output, loop or answer</a:t>
            </a:r>
            <a:endParaRPr lang="en-US" sz="1400" dirty="0"/>
          </a:p>
        </p:txBody>
      </p:sp>
      <p:sp>
        <p:nvSpPr>
          <p:cNvPr id="15" name="Text 13"/>
          <p:cNvSpPr txBox="1"/>
          <p:nvPr/>
        </p:nvSpPr>
        <p:spPr>
          <a:xfrm>
            <a:off x="4480560" y="1188720"/>
            <a:ext cx="3657600" cy="274320"/>
          </a:xfrm>
          <a:prstGeom prst="rect">
            <a:avLst/>
          </a:prstGeom>
          <a:noFill/>
          <a:ln/>
        </p:spPr>
        <p:txBody>
          <a:bodyPr wrap="square" lIns="0" tIns="0" rIns="0" bIns="0" rtlCol="0" anchor="t"/>
          <a:lstStyle/>
          <a:p>
            <a:pPr indent="0" marL="0">
              <a:buNone/>
            </a:pPr>
            <a:r>
              <a:rPr lang="en-US" sz="1200" b="1" dirty="0">
                <a:solidFill>
                  <a:schemeClr val="accent5"/>
                </a:solidFill>
              </a:rPr>
              <a:t>SYSTEM PROMPT RULES</a:t>
            </a:r>
            <a:endParaRPr lang="en-US" sz="1200" dirty="0"/>
          </a:p>
        </p:txBody>
      </p:sp>
      <p:sp>
        <p:nvSpPr>
          <p:cNvPr id="16" name="num-circle"/>
          <p:cNvSpPr/>
          <p:nvPr/>
        </p:nvSpPr>
        <p:spPr>
          <a:xfrm>
            <a:off x="4480560" y="1554480"/>
            <a:ext cx="457200" cy="457200"/>
          </a:xfrm>
          <a:prstGeom prst="ellipse">
            <a:avLst/>
          </a:prstGeom>
          <a:solidFill>
            <a:schemeClr val="accent2"/>
          </a:solidFill>
          <a:ln/>
        </p:spPr>
      </p:sp>
      <p:sp>
        <p:nvSpPr>
          <p:cNvPr id="17" name="Text 15"/>
          <p:cNvSpPr txBox="1"/>
          <p:nvPr/>
        </p:nvSpPr>
        <p:spPr>
          <a:xfrm>
            <a:off x="4480560" y="15544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8" name="Text 16"/>
          <p:cNvSpPr txBox="1"/>
          <p:nvPr/>
        </p:nvSpPr>
        <p:spPr>
          <a:xfrm>
            <a:off x="5120640" y="1508760"/>
            <a:ext cx="3566160" cy="274320"/>
          </a:xfrm>
          <a:prstGeom prst="rect">
            <a:avLst/>
          </a:prstGeom>
          <a:noFill/>
          <a:ln/>
        </p:spPr>
        <p:txBody>
          <a:bodyPr wrap="square" lIns="0" tIns="0" rIns="0" bIns="0" rtlCol="0" anchor="t"/>
          <a:lstStyle/>
          <a:p>
            <a:pPr indent="0" marL="0">
              <a:buNone/>
            </a:pPr>
            <a:r>
              <a:rPr lang="en-US" sz="1500" b="1" dirty="0">
                <a:solidFill>
                  <a:schemeClr val="tx2"/>
                </a:solidFill>
              </a:rPr>
              <a:t>Classify</a:t>
            </a:r>
            <a:endParaRPr lang="en-US" sz="1500" dirty="0"/>
          </a:p>
        </p:txBody>
      </p:sp>
      <p:sp>
        <p:nvSpPr>
          <p:cNvPr id="19" name="Text 17"/>
          <p:cNvSpPr txBox="1"/>
          <p:nvPr/>
        </p:nvSpPr>
        <p:spPr>
          <a:xfrm>
            <a:off x="5120640" y="1783080"/>
            <a:ext cx="3566160" cy="457200"/>
          </a:xfrm>
          <a:prstGeom prst="rect">
            <a:avLst/>
          </a:prstGeom>
          <a:noFill/>
          <a:ln/>
        </p:spPr>
        <p:txBody>
          <a:bodyPr wrap="square" lIns="0" tIns="0" rIns="0" bIns="0" rtlCol="0" anchor="t"/>
          <a:lstStyle/>
          <a:p>
            <a:pPr indent="0" marL="0">
              <a:buNone/>
            </a:pPr>
            <a:r>
              <a:rPr lang="en-US" sz="1300" dirty="0">
                <a:solidFill>
                  <a:schemeClr val="tx1"/>
                </a:solidFill>
              </a:rPr>
              <a:t>Does the question need live data, document data, or both?</a:t>
            </a:r>
            <a:endParaRPr lang="en-US" sz="1300" dirty="0"/>
          </a:p>
        </p:txBody>
      </p:sp>
      <p:sp>
        <p:nvSpPr>
          <p:cNvPr id="20" name="num-circle"/>
          <p:cNvSpPr/>
          <p:nvPr/>
        </p:nvSpPr>
        <p:spPr>
          <a:xfrm>
            <a:off x="4480560" y="2331720"/>
            <a:ext cx="457200" cy="457200"/>
          </a:xfrm>
          <a:prstGeom prst="ellipse">
            <a:avLst/>
          </a:prstGeom>
          <a:solidFill>
            <a:schemeClr val="accent2"/>
          </a:solidFill>
          <a:ln/>
        </p:spPr>
      </p:sp>
      <p:sp>
        <p:nvSpPr>
          <p:cNvPr id="21" name="Text 19"/>
          <p:cNvSpPr txBox="1"/>
          <p:nvPr/>
        </p:nvSpPr>
        <p:spPr>
          <a:xfrm>
            <a:off x="4480560" y="23317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2" name="Text 20"/>
          <p:cNvSpPr txBox="1"/>
          <p:nvPr/>
        </p:nvSpPr>
        <p:spPr>
          <a:xfrm>
            <a:off x="5120640" y="2286000"/>
            <a:ext cx="3566160" cy="274320"/>
          </a:xfrm>
          <a:prstGeom prst="rect">
            <a:avLst/>
          </a:prstGeom>
          <a:noFill/>
          <a:ln/>
        </p:spPr>
        <p:txBody>
          <a:bodyPr wrap="square" lIns="0" tIns="0" rIns="0" bIns="0" rtlCol="0" anchor="t"/>
          <a:lstStyle/>
          <a:p>
            <a:pPr indent="0" marL="0">
              <a:buNone/>
            </a:pPr>
            <a:r>
              <a:rPr lang="en-US" sz="1500" b="1" dirty="0">
                <a:solidFill>
                  <a:schemeClr val="tx2"/>
                </a:solidFill>
              </a:rPr>
              <a:t>Call tools</a:t>
            </a:r>
            <a:endParaRPr lang="en-US" sz="1500" dirty="0"/>
          </a:p>
        </p:txBody>
      </p:sp>
      <p:sp>
        <p:nvSpPr>
          <p:cNvPr id="23" name="Text 21"/>
          <p:cNvSpPr txBox="1"/>
          <p:nvPr/>
        </p:nvSpPr>
        <p:spPr>
          <a:xfrm>
            <a:off x="5120640" y="2560320"/>
            <a:ext cx="3566160" cy="457200"/>
          </a:xfrm>
          <a:prstGeom prst="rect">
            <a:avLst/>
          </a:prstGeom>
          <a:noFill/>
          <a:ln/>
        </p:spPr>
        <p:txBody>
          <a:bodyPr wrap="square" lIns="0" tIns="0" rIns="0" bIns="0" rtlCol="0" anchor="t"/>
          <a:lstStyle/>
          <a:p>
            <a:pPr indent="0" marL="0">
              <a:buNone/>
            </a:pPr>
            <a:r>
              <a:rPr lang="en-US" sz="1300" dirty="0">
                <a:solidFill>
                  <a:schemeClr val="tx1"/>
                </a:solidFill>
              </a:rPr>
              <a:t>Use the right tool(s). Both when needed.</a:t>
            </a:r>
            <a:endParaRPr lang="en-US" sz="1300" dirty="0"/>
          </a:p>
        </p:txBody>
      </p:sp>
      <p:sp>
        <p:nvSpPr>
          <p:cNvPr id="24" name="num-circle"/>
          <p:cNvSpPr/>
          <p:nvPr/>
        </p:nvSpPr>
        <p:spPr>
          <a:xfrm>
            <a:off x="4480560" y="3108960"/>
            <a:ext cx="457200" cy="457200"/>
          </a:xfrm>
          <a:prstGeom prst="ellipse">
            <a:avLst/>
          </a:prstGeom>
          <a:solidFill>
            <a:schemeClr val="accent2"/>
          </a:solidFill>
          <a:ln/>
        </p:spPr>
      </p:sp>
      <p:sp>
        <p:nvSpPr>
          <p:cNvPr id="25" name="Text 23"/>
          <p:cNvSpPr txBox="1"/>
          <p:nvPr/>
        </p:nvSpPr>
        <p:spPr>
          <a:xfrm>
            <a:off x="4480560" y="31089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4"/>
          <p:cNvSpPr txBox="1"/>
          <p:nvPr/>
        </p:nvSpPr>
        <p:spPr>
          <a:xfrm>
            <a:off x="5120640" y="3063240"/>
            <a:ext cx="3566160" cy="274320"/>
          </a:xfrm>
          <a:prstGeom prst="rect">
            <a:avLst/>
          </a:prstGeom>
          <a:noFill/>
          <a:ln/>
        </p:spPr>
        <p:txBody>
          <a:bodyPr wrap="square" lIns="0" tIns="0" rIns="0" bIns="0" rtlCol="0" anchor="t"/>
          <a:lstStyle/>
          <a:p>
            <a:pPr indent="0" marL="0">
              <a:buNone/>
            </a:pPr>
            <a:r>
              <a:rPr lang="en-US" sz="1500" b="1" dirty="0">
                <a:solidFill>
                  <a:schemeClr val="tx2"/>
                </a:solidFill>
              </a:rPr>
              <a:t>Combine</a:t>
            </a:r>
            <a:endParaRPr lang="en-US" sz="1500" dirty="0"/>
          </a:p>
        </p:txBody>
      </p:sp>
      <p:sp>
        <p:nvSpPr>
          <p:cNvPr id="27" name="Text 25"/>
          <p:cNvSpPr txBox="1"/>
          <p:nvPr/>
        </p:nvSpPr>
        <p:spPr>
          <a:xfrm>
            <a:off x="5120640" y="3337560"/>
            <a:ext cx="3566160" cy="457200"/>
          </a:xfrm>
          <a:prstGeom prst="rect">
            <a:avLst/>
          </a:prstGeom>
          <a:noFill/>
          <a:ln/>
        </p:spPr>
        <p:txBody>
          <a:bodyPr wrap="square" lIns="0" tIns="0" rIns="0" bIns="0" rtlCol="0" anchor="t"/>
          <a:lstStyle/>
          <a:p>
            <a:pPr indent="0" marL="0">
              <a:buNone/>
            </a:pPr>
            <a:r>
              <a:rPr lang="en-US" sz="1300" dirty="0">
                <a:solidFill>
                  <a:schemeClr val="tx1"/>
                </a:solidFill>
              </a:rPr>
              <a:t>Merge results into one answer. Never invent numbers.</a:t>
            </a:r>
            <a:endParaRPr lang="en-US" sz="1300" dirty="0"/>
          </a:p>
        </p:txBody>
      </p:sp>
      <p:sp>
        <p:nvSpPr>
          <p:cNvPr id="28" name="num-circle"/>
          <p:cNvSpPr/>
          <p:nvPr/>
        </p:nvSpPr>
        <p:spPr>
          <a:xfrm>
            <a:off x="4480560" y="3886200"/>
            <a:ext cx="457200" cy="457200"/>
          </a:xfrm>
          <a:prstGeom prst="ellipse">
            <a:avLst/>
          </a:prstGeom>
          <a:solidFill>
            <a:schemeClr val="accent2"/>
          </a:solidFill>
          <a:ln/>
        </p:spPr>
      </p:sp>
      <p:sp>
        <p:nvSpPr>
          <p:cNvPr id="29" name="Text 27"/>
          <p:cNvSpPr txBox="1"/>
          <p:nvPr/>
        </p:nvSpPr>
        <p:spPr>
          <a:xfrm>
            <a:off x="4480560" y="3886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30" name="Text 28"/>
          <p:cNvSpPr txBox="1"/>
          <p:nvPr/>
        </p:nvSpPr>
        <p:spPr>
          <a:xfrm>
            <a:off x="5120640" y="3840480"/>
            <a:ext cx="3566160" cy="274320"/>
          </a:xfrm>
          <a:prstGeom prst="rect">
            <a:avLst/>
          </a:prstGeom>
          <a:noFill/>
          <a:ln/>
        </p:spPr>
        <p:txBody>
          <a:bodyPr wrap="square" lIns="0" tIns="0" rIns="0" bIns="0" rtlCol="0" anchor="t"/>
          <a:lstStyle/>
          <a:p>
            <a:pPr indent="0" marL="0">
              <a:buNone/>
            </a:pPr>
            <a:r>
              <a:rPr lang="en-US" sz="1500" b="1" dirty="0">
                <a:solidFill>
                  <a:schemeClr val="tx2"/>
                </a:solidFill>
              </a:rPr>
              <a:t>Label</a:t>
            </a:r>
            <a:endParaRPr lang="en-US" sz="1500" dirty="0"/>
          </a:p>
        </p:txBody>
      </p:sp>
      <p:sp>
        <p:nvSpPr>
          <p:cNvPr id="31" name="Text 29"/>
          <p:cNvSpPr txBox="1"/>
          <p:nvPr/>
        </p:nvSpPr>
        <p:spPr>
          <a:xfrm>
            <a:off x="5120640" y="4114800"/>
            <a:ext cx="3566160" cy="457200"/>
          </a:xfrm>
          <a:prstGeom prst="rect">
            <a:avLst/>
          </a:prstGeom>
          <a:noFill/>
          <a:ln/>
        </p:spPr>
        <p:txBody>
          <a:bodyPr wrap="square" lIns="0" tIns="0" rIns="0" bIns="0" rtlCol="0" anchor="t"/>
          <a:lstStyle/>
          <a:p>
            <a:pPr indent="0" marL="0">
              <a:buNone/>
            </a:pPr>
            <a:r>
              <a:rPr lang="en-US" sz="1300" dirty="0">
                <a:solidFill>
                  <a:schemeClr val="tx1"/>
                </a:solidFill>
              </a:rPr>
              <a:t>State source and unit for every number. Add the disclaimer.</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Example: a question needing both</a:t>
            </a:r>
            <a:endParaRPr lang="en-US" sz="3200" dirty="0"/>
          </a:p>
        </p:txBody>
      </p:sp>
      <p:sp>
        <p:nvSpPr>
          <p:cNvPr id="3" name="trace-row"/>
          <p:cNvSpPr/>
          <p:nvPr/>
        </p:nvSpPr>
        <p:spPr>
          <a:xfrm>
            <a:off x="457200" y="1234440"/>
            <a:ext cx="8229600" cy="475488"/>
          </a:xfrm>
          <a:prstGeom prst="roundRect">
            <a:avLst>
              <a:gd name="adj" fmla="val 23077"/>
            </a:avLst>
          </a:prstGeom>
          <a:solidFill>
            <a:schemeClr val="bg2"/>
          </a:solidFill>
          <a:ln/>
        </p:spPr>
      </p:sp>
      <p:sp>
        <p:nvSpPr>
          <p:cNvPr id="4" name="trace-badge"/>
          <p:cNvSpPr/>
          <p:nvPr/>
        </p:nvSpPr>
        <p:spPr>
          <a:xfrm>
            <a:off x="457200" y="1234440"/>
            <a:ext cx="1188720" cy="475488"/>
          </a:xfrm>
          <a:prstGeom prst="roundRect">
            <a:avLst>
              <a:gd name="adj" fmla="val 19231"/>
            </a:avLst>
          </a:prstGeom>
          <a:solidFill>
            <a:schemeClr val="tx2"/>
          </a:solidFill>
          <a:ln/>
        </p:spPr>
      </p:sp>
      <p:sp>
        <p:nvSpPr>
          <p:cNvPr id="5" name="Text 3"/>
          <p:cNvSpPr txBox="1"/>
          <p:nvPr/>
        </p:nvSpPr>
        <p:spPr>
          <a:xfrm>
            <a:off x="457200" y="1234440"/>
            <a:ext cx="1188720" cy="475488"/>
          </a:xfrm>
          <a:prstGeom prst="rect">
            <a:avLst/>
          </a:prstGeom>
          <a:noFill/>
          <a:ln/>
        </p:spPr>
        <p:txBody>
          <a:bodyPr wrap="square" lIns="0" tIns="0" rIns="0" bIns="0" rtlCol="0" anchor="ctr"/>
          <a:lstStyle/>
          <a:p>
            <a:pPr algn="ctr" indent="0" marL="0">
              <a:buNone/>
            </a:pPr>
            <a:r>
              <a:rPr lang="en-US" sz="1200" b="1" dirty="0">
                <a:solidFill>
                  <a:schemeClr val="bg1"/>
                </a:solidFill>
              </a:rPr>
              <a:t>USER</a:t>
            </a:r>
            <a:endParaRPr lang="en-US" sz="1200" dirty="0"/>
          </a:p>
        </p:txBody>
      </p:sp>
      <p:sp>
        <p:nvSpPr>
          <p:cNvPr id="6" name="Text 4"/>
          <p:cNvSpPr txBox="1"/>
          <p:nvPr/>
        </p:nvSpPr>
        <p:spPr>
          <a:xfrm>
            <a:off x="1828800" y="1234440"/>
            <a:ext cx="6766560" cy="475488"/>
          </a:xfrm>
          <a:prstGeom prst="rect">
            <a:avLst/>
          </a:prstGeom>
          <a:noFill/>
          <a:ln/>
        </p:spPr>
        <p:txBody>
          <a:bodyPr wrap="square" lIns="0" tIns="0" rIns="0" bIns="0" rtlCol="0" anchor="ctr"/>
          <a:lstStyle/>
          <a:p>
            <a:pPr indent="0" marL="0">
              <a:buNone/>
            </a:pPr>
            <a:r>
              <a:rPr lang="en-US" sz="1400" dirty="0">
                <a:solidFill>
                  <a:schemeClr val="tx1"/>
                </a:solidFill>
              </a:rPr>
              <a:t>Compare reported net profit with today's price of RELIANCE.NS</a:t>
            </a:r>
            <a:endParaRPr lang="en-US" sz="1400" dirty="0"/>
          </a:p>
        </p:txBody>
      </p:sp>
      <p:sp>
        <p:nvSpPr>
          <p:cNvPr id="7" name="trace-row"/>
          <p:cNvSpPr/>
          <p:nvPr/>
        </p:nvSpPr>
        <p:spPr>
          <a:xfrm>
            <a:off x="457200" y="1801368"/>
            <a:ext cx="8229600" cy="475488"/>
          </a:xfrm>
          <a:prstGeom prst="roundRect">
            <a:avLst>
              <a:gd name="adj" fmla="val 23077"/>
            </a:avLst>
          </a:prstGeom>
          <a:solidFill>
            <a:schemeClr val="bg2"/>
          </a:solidFill>
          <a:ln/>
        </p:spPr>
      </p:sp>
      <p:sp>
        <p:nvSpPr>
          <p:cNvPr id="8" name="trace-badge"/>
          <p:cNvSpPr/>
          <p:nvPr/>
        </p:nvSpPr>
        <p:spPr>
          <a:xfrm>
            <a:off x="457200" y="1801368"/>
            <a:ext cx="1188720" cy="475488"/>
          </a:xfrm>
          <a:prstGeom prst="roundRect">
            <a:avLst>
              <a:gd name="adj" fmla="val 19231"/>
            </a:avLst>
          </a:prstGeom>
          <a:solidFill>
            <a:schemeClr val="accent5"/>
          </a:solidFill>
          <a:ln/>
        </p:spPr>
      </p:sp>
      <p:sp>
        <p:nvSpPr>
          <p:cNvPr id="9" name="Text 7"/>
          <p:cNvSpPr txBox="1"/>
          <p:nvPr/>
        </p:nvSpPr>
        <p:spPr>
          <a:xfrm>
            <a:off x="457200" y="1801368"/>
            <a:ext cx="1188720" cy="475488"/>
          </a:xfrm>
          <a:prstGeom prst="rect">
            <a:avLst/>
          </a:prstGeom>
          <a:noFill/>
          <a:ln/>
        </p:spPr>
        <p:txBody>
          <a:bodyPr wrap="square" lIns="0" tIns="0" rIns="0" bIns="0" rtlCol="0" anchor="ctr"/>
          <a:lstStyle/>
          <a:p>
            <a:pPr algn="ctr" indent="0" marL="0">
              <a:buNone/>
            </a:pPr>
            <a:r>
              <a:rPr lang="en-US" sz="1200" b="1" dirty="0">
                <a:solidFill>
                  <a:schemeClr val="bg1"/>
                </a:solidFill>
              </a:rPr>
              <a:t>THOUGHT</a:t>
            </a:r>
            <a:endParaRPr lang="en-US" sz="1200" dirty="0"/>
          </a:p>
        </p:txBody>
      </p:sp>
      <p:sp>
        <p:nvSpPr>
          <p:cNvPr id="10" name="Text 8"/>
          <p:cNvSpPr txBox="1"/>
          <p:nvPr/>
        </p:nvSpPr>
        <p:spPr>
          <a:xfrm>
            <a:off x="1828800" y="1801368"/>
            <a:ext cx="6766560" cy="475488"/>
          </a:xfrm>
          <a:prstGeom prst="rect">
            <a:avLst/>
          </a:prstGeom>
          <a:noFill/>
          <a:ln/>
        </p:spPr>
        <p:txBody>
          <a:bodyPr wrap="square" lIns="0" tIns="0" rIns="0" bIns="0" rtlCol="0" anchor="ctr"/>
          <a:lstStyle/>
          <a:p>
            <a:pPr indent="0" marL="0">
              <a:buNone/>
            </a:pPr>
            <a:r>
              <a:rPr lang="en-US" sz="1400" dirty="0">
                <a:solidFill>
                  <a:schemeClr val="tx1"/>
                </a:solidFill>
              </a:rPr>
              <a:t>Needs document data AND live data, so call both tools</a:t>
            </a:r>
            <a:endParaRPr lang="en-US" sz="1400" dirty="0"/>
          </a:p>
        </p:txBody>
      </p:sp>
      <p:sp>
        <p:nvSpPr>
          <p:cNvPr id="11" name="trace-row"/>
          <p:cNvSpPr/>
          <p:nvPr/>
        </p:nvSpPr>
        <p:spPr>
          <a:xfrm>
            <a:off x="457200" y="2368296"/>
            <a:ext cx="8229600" cy="475488"/>
          </a:xfrm>
          <a:prstGeom prst="roundRect">
            <a:avLst>
              <a:gd name="adj" fmla="val 23077"/>
            </a:avLst>
          </a:prstGeom>
          <a:solidFill>
            <a:schemeClr val="bg2"/>
          </a:solidFill>
          <a:ln/>
        </p:spPr>
      </p:sp>
      <p:sp>
        <p:nvSpPr>
          <p:cNvPr id="12" name="trace-badge"/>
          <p:cNvSpPr/>
          <p:nvPr/>
        </p:nvSpPr>
        <p:spPr>
          <a:xfrm>
            <a:off x="457200" y="2368296"/>
            <a:ext cx="1188720" cy="475488"/>
          </a:xfrm>
          <a:prstGeom prst="roundRect">
            <a:avLst>
              <a:gd name="adj" fmla="val 19231"/>
            </a:avLst>
          </a:prstGeom>
          <a:solidFill>
            <a:schemeClr val="accent1"/>
          </a:solidFill>
          <a:ln/>
        </p:spPr>
      </p:sp>
      <p:sp>
        <p:nvSpPr>
          <p:cNvPr id="13" name="Text 11"/>
          <p:cNvSpPr txBox="1"/>
          <p:nvPr/>
        </p:nvSpPr>
        <p:spPr>
          <a:xfrm>
            <a:off x="457200" y="2368296"/>
            <a:ext cx="1188720" cy="475488"/>
          </a:xfrm>
          <a:prstGeom prst="rect">
            <a:avLst/>
          </a:prstGeom>
          <a:noFill/>
          <a:ln/>
        </p:spPr>
        <p:txBody>
          <a:bodyPr wrap="square" lIns="0" tIns="0" rIns="0" bIns="0" rtlCol="0" anchor="ctr"/>
          <a:lstStyle/>
          <a:p>
            <a:pPr algn="ctr" indent="0" marL="0">
              <a:buNone/>
            </a:pPr>
            <a:r>
              <a:rPr lang="en-US" sz="1200" b="1" dirty="0">
                <a:solidFill>
                  <a:schemeClr val="bg1"/>
                </a:solidFill>
              </a:rPr>
              <a:t>ACTION 1</a:t>
            </a:r>
            <a:endParaRPr lang="en-US" sz="1200" dirty="0"/>
          </a:p>
        </p:txBody>
      </p:sp>
      <p:sp>
        <p:nvSpPr>
          <p:cNvPr id="14" name="Text 12"/>
          <p:cNvSpPr txBox="1"/>
          <p:nvPr/>
        </p:nvSpPr>
        <p:spPr>
          <a:xfrm>
            <a:off x="1828800" y="2368296"/>
            <a:ext cx="6766560" cy="475488"/>
          </a:xfrm>
          <a:prstGeom prst="rect">
            <a:avLst/>
          </a:prstGeom>
          <a:noFill/>
          <a:ln/>
        </p:spPr>
        <p:txBody>
          <a:bodyPr wrap="square" lIns="0" tIns="0" rIns="0" bIns="0" rtlCol="0" anchor="ctr"/>
          <a:lstStyle/>
          <a:p>
            <a:pPr indent="0" marL="0">
              <a:buNone/>
            </a:pPr>
            <a:r>
              <a:rPr lang="en-US" sz="1400" dirty="0">
                <a:solidFill>
                  <a:schemeClr val="tx1"/>
                </a:solidFill>
              </a:rPr>
              <a:t>search_financial_documents(net profit)  -&gt;  STATIC, INR crore</a:t>
            </a:r>
            <a:endParaRPr lang="en-US" sz="1400" dirty="0"/>
          </a:p>
        </p:txBody>
      </p:sp>
      <p:sp>
        <p:nvSpPr>
          <p:cNvPr id="15" name="trace-row"/>
          <p:cNvSpPr/>
          <p:nvPr/>
        </p:nvSpPr>
        <p:spPr>
          <a:xfrm>
            <a:off x="457200" y="2935224"/>
            <a:ext cx="8229600" cy="475488"/>
          </a:xfrm>
          <a:prstGeom prst="roundRect">
            <a:avLst>
              <a:gd name="adj" fmla="val 23077"/>
            </a:avLst>
          </a:prstGeom>
          <a:solidFill>
            <a:schemeClr val="bg2"/>
          </a:solidFill>
          <a:ln/>
        </p:spPr>
      </p:sp>
      <p:sp>
        <p:nvSpPr>
          <p:cNvPr id="16" name="trace-badge"/>
          <p:cNvSpPr/>
          <p:nvPr/>
        </p:nvSpPr>
        <p:spPr>
          <a:xfrm>
            <a:off x="457200" y="2935224"/>
            <a:ext cx="1188720" cy="475488"/>
          </a:xfrm>
          <a:prstGeom prst="roundRect">
            <a:avLst>
              <a:gd name="adj" fmla="val 19231"/>
            </a:avLst>
          </a:prstGeom>
          <a:solidFill>
            <a:schemeClr val="accent5"/>
          </a:solidFill>
          <a:ln/>
        </p:spPr>
      </p:sp>
      <p:sp>
        <p:nvSpPr>
          <p:cNvPr id="17" name="Text 15"/>
          <p:cNvSpPr txBox="1"/>
          <p:nvPr/>
        </p:nvSpPr>
        <p:spPr>
          <a:xfrm>
            <a:off x="457200" y="2935224"/>
            <a:ext cx="1188720" cy="475488"/>
          </a:xfrm>
          <a:prstGeom prst="rect">
            <a:avLst/>
          </a:prstGeom>
          <a:noFill/>
          <a:ln/>
        </p:spPr>
        <p:txBody>
          <a:bodyPr wrap="square" lIns="0" tIns="0" rIns="0" bIns="0" rtlCol="0" anchor="ctr"/>
          <a:lstStyle/>
          <a:p>
            <a:pPr algn="ctr" indent="0" marL="0">
              <a:buNone/>
            </a:pPr>
            <a:r>
              <a:rPr lang="en-US" sz="1200" b="1" dirty="0">
                <a:solidFill>
                  <a:schemeClr val="bg1"/>
                </a:solidFill>
              </a:rPr>
              <a:t>ACTION 2</a:t>
            </a:r>
            <a:endParaRPr lang="en-US" sz="1200" dirty="0"/>
          </a:p>
        </p:txBody>
      </p:sp>
      <p:sp>
        <p:nvSpPr>
          <p:cNvPr id="18" name="Text 16"/>
          <p:cNvSpPr txBox="1"/>
          <p:nvPr/>
        </p:nvSpPr>
        <p:spPr>
          <a:xfrm>
            <a:off x="1828800" y="2935224"/>
            <a:ext cx="6766560" cy="475488"/>
          </a:xfrm>
          <a:prstGeom prst="rect">
            <a:avLst/>
          </a:prstGeom>
          <a:noFill/>
          <a:ln/>
        </p:spPr>
        <p:txBody>
          <a:bodyPr wrap="square" lIns="0" tIns="0" rIns="0" bIns="0" rtlCol="0" anchor="ctr"/>
          <a:lstStyle/>
          <a:p>
            <a:pPr indent="0" marL="0">
              <a:buNone/>
            </a:pPr>
            <a:r>
              <a:rPr lang="en-US" sz="1400" dirty="0">
                <a:solidFill>
                  <a:schemeClr val="tx1"/>
                </a:solidFill>
              </a:rPr>
              <a:t>get_stock_price(RELIANCE.NS)  -&gt;  LIVE, INR per share</a:t>
            </a:r>
            <a:endParaRPr lang="en-US" sz="1400" dirty="0"/>
          </a:p>
        </p:txBody>
      </p:sp>
      <p:sp>
        <p:nvSpPr>
          <p:cNvPr id="19" name="trace-row"/>
          <p:cNvSpPr/>
          <p:nvPr/>
        </p:nvSpPr>
        <p:spPr>
          <a:xfrm>
            <a:off x="457200" y="3502152"/>
            <a:ext cx="8229600" cy="475488"/>
          </a:xfrm>
          <a:prstGeom prst="roundRect">
            <a:avLst>
              <a:gd name="adj" fmla="val 23077"/>
            </a:avLst>
          </a:prstGeom>
          <a:solidFill>
            <a:schemeClr val="bg2"/>
          </a:solidFill>
          <a:ln/>
        </p:spPr>
      </p:sp>
      <p:sp>
        <p:nvSpPr>
          <p:cNvPr id="20" name="trace-badge"/>
          <p:cNvSpPr/>
          <p:nvPr/>
        </p:nvSpPr>
        <p:spPr>
          <a:xfrm>
            <a:off x="457200" y="3502152"/>
            <a:ext cx="1188720" cy="475488"/>
          </a:xfrm>
          <a:prstGeom prst="roundRect">
            <a:avLst>
              <a:gd name="adj" fmla="val 19231"/>
            </a:avLst>
          </a:prstGeom>
          <a:solidFill>
            <a:schemeClr val="accent3"/>
          </a:solidFill>
          <a:ln/>
        </p:spPr>
      </p:sp>
      <p:sp>
        <p:nvSpPr>
          <p:cNvPr id="21" name="Text 19"/>
          <p:cNvSpPr txBox="1"/>
          <p:nvPr/>
        </p:nvSpPr>
        <p:spPr>
          <a:xfrm>
            <a:off x="457200" y="3502152"/>
            <a:ext cx="1188720" cy="475488"/>
          </a:xfrm>
          <a:prstGeom prst="rect">
            <a:avLst/>
          </a:prstGeom>
          <a:noFill/>
          <a:ln/>
        </p:spPr>
        <p:txBody>
          <a:bodyPr wrap="square" lIns="0" tIns="0" rIns="0" bIns="0" rtlCol="0" anchor="ctr"/>
          <a:lstStyle/>
          <a:p>
            <a:pPr algn="ctr" indent="0" marL="0">
              <a:buNone/>
            </a:pPr>
            <a:r>
              <a:rPr lang="en-US" sz="1200" b="1" dirty="0">
                <a:solidFill>
                  <a:schemeClr val="bg1"/>
                </a:solidFill>
              </a:rPr>
              <a:t>ANSWER</a:t>
            </a:r>
            <a:endParaRPr lang="en-US" sz="1200" dirty="0"/>
          </a:p>
        </p:txBody>
      </p:sp>
      <p:sp>
        <p:nvSpPr>
          <p:cNvPr id="22" name="Text 20"/>
          <p:cNvSpPr txBox="1"/>
          <p:nvPr/>
        </p:nvSpPr>
        <p:spPr>
          <a:xfrm>
            <a:off x="1828800" y="3502152"/>
            <a:ext cx="6766560" cy="475488"/>
          </a:xfrm>
          <a:prstGeom prst="rect">
            <a:avLst/>
          </a:prstGeom>
          <a:noFill/>
          <a:ln/>
        </p:spPr>
        <p:txBody>
          <a:bodyPr wrap="square" lIns="0" tIns="0" rIns="0" bIns="0" rtlCol="0" anchor="ctr"/>
          <a:lstStyle/>
          <a:p>
            <a:pPr indent="0" marL="0">
              <a:buNone/>
            </a:pPr>
            <a:r>
              <a:rPr lang="en-US" sz="1400" dirty="0">
                <a:solidFill>
                  <a:schemeClr val="tx1"/>
                </a:solidFill>
              </a:rPr>
              <a:t>Each number tagged with source, unit and period</a:t>
            </a:r>
            <a:endParaRPr lang="en-US" sz="1400" dirty="0"/>
          </a:p>
        </p:txBody>
      </p:sp>
      <p:sp>
        <p:nvSpPr>
          <p:cNvPr id="23" name="trace-row"/>
          <p:cNvSpPr/>
          <p:nvPr/>
        </p:nvSpPr>
        <p:spPr>
          <a:xfrm>
            <a:off x="457200" y="4069080"/>
            <a:ext cx="8229600" cy="475488"/>
          </a:xfrm>
          <a:prstGeom prst="roundRect">
            <a:avLst>
              <a:gd name="adj" fmla="val 23077"/>
            </a:avLst>
          </a:prstGeom>
          <a:solidFill>
            <a:schemeClr val="bg2"/>
          </a:solidFill>
          <a:ln/>
        </p:spPr>
      </p:sp>
      <p:sp>
        <p:nvSpPr>
          <p:cNvPr id="24" name="trace-badge"/>
          <p:cNvSpPr/>
          <p:nvPr/>
        </p:nvSpPr>
        <p:spPr>
          <a:xfrm>
            <a:off x="457200" y="4069080"/>
            <a:ext cx="1188720" cy="475488"/>
          </a:xfrm>
          <a:prstGeom prst="roundRect">
            <a:avLst>
              <a:gd name="adj" fmla="val 19231"/>
            </a:avLst>
          </a:prstGeom>
          <a:solidFill>
            <a:schemeClr val="accent2"/>
          </a:solidFill>
          <a:ln/>
        </p:spPr>
      </p:sp>
      <p:sp>
        <p:nvSpPr>
          <p:cNvPr id="25" name="Text 23"/>
          <p:cNvSpPr txBox="1"/>
          <p:nvPr/>
        </p:nvSpPr>
        <p:spPr>
          <a:xfrm>
            <a:off x="457200" y="4069080"/>
            <a:ext cx="1188720" cy="475488"/>
          </a:xfrm>
          <a:prstGeom prst="rect">
            <a:avLst/>
          </a:prstGeom>
          <a:noFill/>
          <a:ln/>
        </p:spPr>
        <p:txBody>
          <a:bodyPr wrap="square" lIns="0" tIns="0" rIns="0" bIns="0" rtlCol="0" anchor="ctr"/>
          <a:lstStyle/>
          <a:p>
            <a:pPr algn="ctr" indent="0" marL="0">
              <a:buNone/>
            </a:pPr>
            <a:r>
              <a:rPr lang="en-US" sz="1200" b="1" dirty="0">
                <a:solidFill>
                  <a:schemeClr val="tx1"/>
                </a:solidFill>
              </a:rPr>
              <a:t>GUARD</a:t>
            </a:r>
            <a:endParaRPr lang="en-US" sz="1200" dirty="0"/>
          </a:p>
        </p:txBody>
      </p:sp>
      <p:sp>
        <p:nvSpPr>
          <p:cNvPr id="26" name="Text 24"/>
          <p:cNvSpPr txBox="1"/>
          <p:nvPr/>
        </p:nvSpPr>
        <p:spPr>
          <a:xfrm>
            <a:off x="1828800" y="4069080"/>
            <a:ext cx="6766560" cy="475488"/>
          </a:xfrm>
          <a:prstGeom prst="rect">
            <a:avLst/>
          </a:prstGeom>
          <a:noFill/>
          <a:ln/>
        </p:spPr>
        <p:txBody>
          <a:bodyPr wrap="square" lIns="0" tIns="0" rIns="0" bIns="0" rtlCol="0" anchor="ctr"/>
          <a:lstStyle/>
          <a:p>
            <a:pPr indent="0" marL="0">
              <a:buNone/>
            </a:pPr>
            <a:r>
              <a:rPr lang="en-US" sz="1400" dirty="0">
                <a:solidFill>
                  <a:schemeClr val="tx1"/>
                </a:solidFill>
              </a:rPr>
              <a:t>Ends with: not personalized financial advice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Step 9: Gradio deployment</a:t>
            </a:r>
            <a:endParaRPr lang="en-US" sz="3200" dirty="0"/>
          </a:p>
        </p:txBody>
      </p:sp>
      <p:sp>
        <p:nvSpPr>
          <p:cNvPr id="3" name="mock-window"/>
          <p:cNvSpPr/>
          <p:nvPr/>
        </p:nvSpPr>
        <p:spPr>
          <a:xfrm>
            <a:off x="457200" y="1234440"/>
            <a:ext cx="4206240" cy="3383280"/>
          </a:xfrm>
          <a:prstGeom prst="roundRect">
            <a:avLst>
              <a:gd name="adj" fmla="val 324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71600"/>
            <a:ext cx="3749040" cy="320040"/>
          </a:xfrm>
          <a:prstGeom prst="rect">
            <a:avLst/>
          </a:prstGeom>
          <a:noFill/>
          <a:ln/>
        </p:spPr>
        <p:txBody>
          <a:bodyPr wrap="square" lIns="0" tIns="0" rIns="0" bIns="0" rtlCol="0" anchor="t"/>
          <a:lstStyle/>
          <a:p>
            <a:pPr indent="0" marL="0">
              <a:buNone/>
            </a:pPr>
            <a:r>
              <a:rPr lang="en-US" sz="1500" b="1" dirty="0">
                <a:solidFill>
                  <a:schemeClr val="tx2"/>
                </a:solidFill>
              </a:rPr>
              <a:t>Investment Research Agent</a:t>
            </a:r>
            <a:endParaRPr lang="en-US" sz="1500" dirty="0"/>
          </a:p>
        </p:txBody>
      </p:sp>
      <p:sp>
        <p:nvSpPr>
          <p:cNvPr id="5" name="mock-disclaimer"/>
          <p:cNvSpPr/>
          <p:nvPr/>
        </p:nvSpPr>
        <p:spPr>
          <a:xfrm>
            <a:off x="685800" y="1783080"/>
            <a:ext cx="3749040" cy="457200"/>
          </a:xfrm>
          <a:prstGeom prst="roundRect">
            <a:avLst>
              <a:gd name="adj" fmla="val 16000"/>
            </a:avLst>
          </a:prstGeom>
          <a:solidFill>
            <a:srgbClr val="FFF1CC"/>
          </a:solidFill>
          <a:ln/>
        </p:spPr>
      </p:sp>
      <p:sp>
        <p:nvSpPr>
          <p:cNvPr id="6" name="Text 4"/>
          <p:cNvSpPr txBox="1"/>
          <p:nvPr/>
        </p:nvSpPr>
        <p:spPr>
          <a:xfrm>
            <a:off x="822960" y="1783080"/>
            <a:ext cx="3474720" cy="457200"/>
          </a:xfrm>
          <a:prstGeom prst="rect">
            <a:avLst/>
          </a:prstGeom>
          <a:noFill/>
          <a:ln/>
        </p:spPr>
        <p:txBody>
          <a:bodyPr wrap="square" lIns="0" tIns="0" rIns="0" bIns="0" rtlCol="0" anchor="ctr"/>
          <a:lstStyle/>
          <a:p>
            <a:pPr indent="0" marL="0">
              <a:buNone/>
            </a:pPr>
            <a:r>
              <a:rPr lang="en-US" sz="1100" dirty="0">
                <a:solidFill>
                  <a:schemeClr val="tx1"/>
                </a:solidFill>
              </a:rPr>
              <a:t>Disclaimer: not personalized financial advice.</a:t>
            </a:r>
            <a:endParaRPr lang="en-US" sz="1100" dirty="0"/>
          </a:p>
        </p:txBody>
      </p:sp>
      <p:sp>
        <p:nvSpPr>
          <p:cNvPr id="7" name="mock-user-bubble"/>
          <p:cNvSpPr/>
          <p:nvPr/>
        </p:nvSpPr>
        <p:spPr>
          <a:xfrm>
            <a:off x="1828800" y="2423160"/>
            <a:ext cx="2606040" cy="502920"/>
          </a:xfrm>
          <a:prstGeom prst="roundRect">
            <a:avLst>
              <a:gd name="adj" fmla="val 21818"/>
            </a:avLst>
          </a:prstGeom>
          <a:solidFill>
            <a:schemeClr val="accent1"/>
          </a:solidFill>
          <a:ln/>
        </p:spPr>
      </p:sp>
      <p:sp>
        <p:nvSpPr>
          <p:cNvPr id="8" name="Text 6"/>
          <p:cNvSpPr txBox="1"/>
          <p:nvPr/>
        </p:nvSpPr>
        <p:spPr>
          <a:xfrm>
            <a:off x="1920240" y="2423160"/>
            <a:ext cx="2423160" cy="502920"/>
          </a:xfrm>
          <a:prstGeom prst="rect">
            <a:avLst/>
          </a:prstGeom>
          <a:noFill/>
          <a:ln/>
        </p:spPr>
        <p:txBody>
          <a:bodyPr wrap="square" lIns="0" tIns="0" rIns="0" bIns="0" rtlCol="0" anchor="ctr"/>
          <a:lstStyle/>
          <a:p>
            <a:pPr indent="0" marL="0">
              <a:buNone/>
            </a:pPr>
            <a:r>
              <a:rPr lang="en-US" sz="1100" dirty="0">
                <a:solidFill>
                  <a:schemeClr val="bg1"/>
                </a:solidFill>
              </a:rPr>
              <a:t>Price of TCS.NS vs reported profit?</a:t>
            </a:r>
            <a:endParaRPr lang="en-US" sz="1100" dirty="0"/>
          </a:p>
        </p:txBody>
      </p:sp>
      <p:sp>
        <p:nvSpPr>
          <p:cNvPr id="9" name="mock-bot-bubble"/>
          <p:cNvSpPr/>
          <p:nvPr/>
        </p:nvSpPr>
        <p:spPr>
          <a:xfrm>
            <a:off x="685800" y="3108960"/>
            <a:ext cx="3383280" cy="960120"/>
          </a:xfrm>
          <a:prstGeom prst="roundRect">
            <a:avLst>
              <a:gd name="adj" fmla="val 11429"/>
            </a:avLst>
          </a:prstGeom>
          <a:solidFill>
            <a:schemeClr val="bg2"/>
          </a:solidFill>
          <a:ln/>
        </p:spPr>
      </p:sp>
      <p:sp>
        <p:nvSpPr>
          <p:cNvPr id="10" name="Text 8"/>
          <p:cNvSpPr txBox="1"/>
          <p:nvPr/>
        </p:nvSpPr>
        <p:spPr>
          <a:xfrm>
            <a:off x="822960" y="3154680"/>
            <a:ext cx="3108960" cy="868680"/>
          </a:xfrm>
          <a:prstGeom prst="rect">
            <a:avLst/>
          </a:prstGeom>
          <a:noFill/>
          <a:ln/>
        </p:spPr>
        <p:txBody>
          <a:bodyPr wrap="square" lIns="0" tIns="0" rIns="0" bIns="0" rtlCol="0" anchor="ctr"/>
          <a:lstStyle/>
          <a:p>
            <a:pPr indent="0" marL="0">
              <a:buNone/>
            </a:pPr>
            <a:r>
              <a:rPr lang="en-US" sz="1100" dirty="0">
                <a:solidFill>
                  <a:schemeClr val="tx1"/>
                </a:solidFill>
              </a:rPr>
              <a:t>Profit: INR crore (annual report, p.n). Price: INR per share (live market).</a:t>
            </a:r>
            <a:endParaRPr lang="en-US" sz="1100" dirty="0"/>
          </a:p>
        </p:txBody>
      </p:sp>
      <p:sp>
        <p:nvSpPr>
          <p:cNvPr id="11" name="mock-input"/>
          <p:cNvSpPr/>
          <p:nvPr/>
        </p:nvSpPr>
        <p:spPr>
          <a:xfrm>
            <a:off x="685800" y="4206240"/>
            <a:ext cx="3749040" cy="274320"/>
          </a:xfrm>
          <a:prstGeom prst="roundRect">
            <a:avLst>
              <a:gd name="adj" fmla="val 33333"/>
            </a:avLst>
          </a:prstGeom>
          <a:solidFill>
            <a:schemeClr val="bg2"/>
          </a:solidFill>
          <a:ln/>
        </p:spPr>
      </p:sp>
      <p:sp>
        <p:nvSpPr>
          <p:cNvPr id="12" name="Text 10"/>
          <p:cNvSpPr txBox="1"/>
          <p:nvPr/>
        </p:nvSpPr>
        <p:spPr>
          <a:xfrm>
            <a:off x="822960" y="4206240"/>
            <a:ext cx="3474720" cy="274320"/>
          </a:xfrm>
          <a:prstGeom prst="rect">
            <a:avLst/>
          </a:prstGeom>
          <a:noFill/>
          <a:ln/>
        </p:spPr>
        <p:txBody>
          <a:bodyPr wrap="square" lIns="0" tIns="0" rIns="0" bIns="0" rtlCol="0" anchor="ctr"/>
          <a:lstStyle/>
          <a:p>
            <a:pPr indent="0" marL="0">
              <a:buNone/>
            </a:pPr>
            <a:r>
              <a:rPr lang="en-US" sz="1000" dirty="0">
                <a:solidFill>
                  <a:schemeClr val="accent5"/>
                </a:solidFill>
              </a:rPr>
              <a:t>Ask about a stock or a report...</a:t>
            </a:r>
            <a:endParaRPr lang="en-US" sz="1000" dirty="0"/>
          </a:p>
        </p:txBody>
      </p:sp>
      <p:sp>
        <p:nvSpPr>
          <p:cNvPr id="13" name="icon-circle"/>
          <p:cNvSpPr/>
          <p:nvPr/>
        </p:nvSpPr>
        <p:spPr>
          <a:xfrm>
            <a:off x="5029200" y="1280160"/>
            <a:ext cx="548640" cy="548640"/>
          </a:xfrm>
          <a:prstGeom prst="ellipse">
            <a:avLst/>
          </a:prstGeom>
          <a:solidFill>
            <a:schemeClr val="accent1"/>
          </a:solidFill>
          <a:ln/>
        </p:spPr>
      </p:sp>
      <p:pic>
        <p:nvPicPr>
          <p:cNvPr id="14" name="Image 0" descr="icon">    </p:cNvPr>
          <p:cNvPicPr>
            <a:picLocks noChangeAspect="1"/>
          </p:cNvPicPr>
          <p:nvPr/>
        </p:nvPicPr>
        <p:blipFill>
          <a:blip r:embed="rId1"/>
          <a:stretch>
            <a:fillRect/>
          </a:stretch>
        </p:blipFill>
        <p:spPr>
          <a:xfrm>
            <a:off x="5166360" y="1417320"/>
            <a:ext cx="274320" cy="274320"/>
          </a:xfrm>
          <a:prstGeom prst="rect">
            <a:avLst/>
          </a:prstGeom>
        </p:spPr>
      </p:pic>
      <p:sp>
        <p:nvSpPr>
          <p:cNvPr id="15" name="Text 12"/>
          <p:cNvSpPr txBox="1"/>
          <p:nvPr/>
        </p:nvSpPr>
        <p:spPr>
          <a:xfrm>
            <a:off x="5760720" y="1280160"/>
            <a:ext cx="2926080" cy="320040"/>
          </a:xfrm>
          <a:prstGeom prst="rect">
            <a:avLst/>
          </a:prstGeom>
          <a:noFill/>
          <a:ln/>
        </p:spPr>
        <p:txBody>
          <a:bodyPr wrap="square" lIns="0" tIns="0" rIns="0" bIns="0" rtlCol="0" anchor="t"/>
          <a:lstStyle/>
          <a:p>
            <a:pPr indent="0" marL="0">
              <a:buNone/>
            </a:pPr>
            <a:r>
              <a:rPr lang="en-US" sz="1600" b="1" dirty="0">
                <a:solidFill>
                  <a:schemeClr val="tx2"/>
                </a:solidFill>
              </a:rPr>
              <a:t>gr.ChatInterface</a:t>
            </a:r>
            <a:endParaRPr lang="en-US" sz="1600" dirty="0"/>
          </a:p>
        </p:txBody>
      </p:sp>
      <p:sp>
        <p:nvSpPr>
          <p:cNvPr id="16" name="Text 13"/>
          <p:cNvSpPr txBox="1"/>
          <p:nvPr/>
        </p:nvSpPr>
        <p:spPr>
          <a:xfrm>
            <a:off x="5760720" y="1627632"/>
            <a:ext cx="2926080" cy="685800"/>
          </a:xfrm>
          <a:prstGeom prst="rect">
            <a:avLst/>
          </a:prstGeom>
          <a:noFill/>
          <a:ln/>
        </p:spPr>
        <p:txBody>
          <a:bodyPr wrap="square" lIns="0" tIns="0" rIns="0" bIns="0" rtlCol="0" anchor="t"/>
          <a:lstStyle/>
          <a:p>
            <a:pPr indent="0" marL="0">
              <a:buNone/>
            </a:pPr>
            <a:r>
              <a:rPr lang="en-US" sz="1400" dirty="0">
                <a:solidFill>
                  <a:schemeClr val="tx1"/>
                </a:solidFill>
              </a:rPr>
              <a:t>Chat history is passed to the agent on every turn.</a:t>
            </a:r>
            <a:endParaRPr lang="en-US" sz="1400" dirty="0"/>
          </a:p>
        </p:txBody>
      </p:sp>
      <p:sp>
        <p:nvSpPr>
          <p:cNvPr id="17" name="icon-circle"/>
          <p:cNvSpPr/>
          <p:nvPr/>
        </p:nvSpPr>
        <p:spPr>
          <a:xfrm>
            <a:off x="5029200" y="2377440"/>
            <a:ext cx="548640" cy="548640"/>
          </a:xfrm>
          <a:prstGeom prst="ellipse">
            <a:avLst/>
          </a:prstGeom>
          <a:solidFill>
            <a:schemeClr val="accent4"/>
          </a:solidFill>
          <a:ln/>
        </p:spPr>
      </p:sp>
      <p:pic>
        <p:nvPicPr>
          <p:cNvPr id="18" name="Image 1" descr="icon">    </p:cNvPr>
          <p:cNvPicPr>
            <a:picLocks noChangeAspect="1"/>
          </p:cNvPicPr>
          <p:nvPr/>
        </p:nvPicPr>
        <p:blipFill>
          <a:blip r:embed="rId2"/>
          <a:stretch>
            <a:fillRect/>
          </a:stretch>
        </p:blipFill>
        <p:spPr>
          <a:xfrm>
            <a:off x="5166360" y="2514600"/>
            <a:ext cx="274320" cy="274320"/>
          </a:xfrm>
          <a:prstGeom prst="rect">
            <a:avLst/>
          </a:prstGeom>
        </p:spPr>
      </p:pic>
      <p:sp>
        <p:nvSpPr>
          <p:cNvPr id="19" name="Text 15"/>
          <p:cNvSpPr txBox="1"/>
          <p:nvPr/>
        </p:nvSpPr>
        <p:spPr>
          <a:xfrm>
            <a:off x="5760720" y="2377440"/>
            <a:ext cx="2926080" cy="320040"/>
          </a:xfrm>
          <a:prstGeom prst="rect">
            <a:avLst/>
          </a:prstGeom>
          <a:noFill/>
          <a:ln/>
        </p:spPr>
        <p:txBody>
          <a:bodyPr wrap="square" lIns="0" tIns="0" rIns="0" bIns="0" rtlCol="0" anchor="t"/>
          <a:lstStyle/>
          <a:p>
            <a:pPr indent="0" marL="0">
              <a:buNone/>
            </a:pPr>
            <a:r>
              <a:rPr lang="en-US" sz="1600" b="1" dirty="0">
                <a:solidFill>
                  <a:schemeClr val="tx2"/>
                </a:solidFill>
              </a:rPr>
              <a:t>Visible disclaimer</a:t>
            </a:r>
            <a:endParaRPr lang="en-US" sz="1600" dirty="0"/>
          </a:p>
        </p:txBody>
      </p:sp>
      <p:sp>
        <p:nvSpPr>
          <p:cNvPr id="20" name="Text 16"/>
          <p:cNvSpPr txBox="1"/>
          <p:nvPr/>
        </p:nvSpPr>
        <p:spPr>
          <a:xfrm>
            <a:off x="5760720" y="2724912"/>
            <a:ext cx="2926080" cy="685800"/>
          </a:xfrm>
          <a:prstGeom prst="rect">
            <a:avLst/>
          </a:prstGeom>
          <a:noFill/>
          <a:ln/>
        </p:spPr>
        <p:txBody>
          <a:bodyPr wrap="square" lIns="0" tIns="0" rIns="0" bIns="0" rtlCol="0" anchor="t"/>
          <a:lstStyle/>
          <a:p>
            <a:pPr indent="0" marL="0">
              <a:buNone/>
            </a:pPr>
            <a:r>
              <a:rPr lang="en-US" sz="1400" dirty="0">
                <a:solidFill>
                  <a:schemeClr val="tx1"/>
                </a:solidFill>
              </a:rPr>
              <a:t>Shown at the top and bottom, as the rules require.</a:t>
            </a:r>
            <a:endParaRPr lang="en-US" sz="1400" dirty="0"/>
          </a:p>
        </p:txBody>
      </p:sp>
      <p:sp>
        <p:nvSpPr>
          <p:cNvPr id="21" name="icon-circle"/>
          <p:cNvSpPr/>
          <p:nvPr/>
        </p:nvSpPr>
        <p:spPr>
          <a:xfrm>
            <a:off x="5029200" y="3474720"/>
            <a:ext cx="548640" cy="548640"/>
          </a:xfrm>
          <a:prstGeom prst="ellipse">
            <a:avLst/>
          </a:prstGeom>
          <a:solidFill>
            <a:schemeClr val="tx2"/>
          </a:solidFill>
          <a:ln/>
        </p:spPr>
      </p:sp>
      <p:pic>
        <p:nvPicPr>
          <p:cNvPr id="22" name="Image 2" descr="icon">    </p:cNvPr>
          <p:cNvPicPr>
            <a:picLocks noChangeAspect="1"/>
          </p:cNvPicPr>
          <p:nvPr/>
        </p:nvPicPr>
        <p:blipFill>
          <a:blip r:embed="rId3"/>
          <a:stretch>
            <a:fillRect/>
          </a:stretch>
        </p:blipFill>
        <p:spPr>
          <a:xfrm>
            <a:off x="5166360" y="3611880"/>
            <a:ext cx="274320" cy="274320"/>
          </a:xfrm>
          <a:prstGeom prst="rect">
            <a:avLst/>
          </a:prstGeom>
        </p:spPr>
      </p:pic>
      <p:sp>
        <p:nvSpPr>
          <p:cNvPr id="23" name="Text 18"/>
          <p:cNvSpPr txBox="1"/>
          <p:nvPr/>
        </p:nvSpPr>
        <p:spPr>
          <a:xfrm>
            <a:off x="5760720" y="3474720"/>
            <a:ext cx="2926080" cy="320040"/>
          </a:xfrm>
          <a:prstGeom prst="rect">
            <a:avLst/>
          </a:prstGeom>
          <a:noFill/>
          <a:ln/>
        </p:spPr>
        <p:txBody>
          <a:bodyPr wrap="square" lIns="0" tIns="0" rIns="0" bIns="0" rtlCol="0" anchor="t"/>
          <a:lstStyle/>
          <a:p>
            <a:pPr indent="0" marL="0">
              <a:buNone/>
            </a:pPr>
            <a:r>
              <a:rPr lang="en-US" sz="1600" b="1" dirty="0">
                <a:solidFill>
                  <a:schemeClr val="tx2"/>
                </a:solidFill>
              </a:rPr>
              <a:t>One command</a:t>
            </a:r>
            <a:endParaRPr lang="en-US" sz="1600" dirty="0"/>
          </a:p>
        </p:txBody>
      </p:sp>
      <p:sp>
        <p:nvSpPr>
          <p:cNvPr id="24" name="Text 19"/>
          <p:cNvSpPr txBox="1"/>
          <p:nvPr/>
        </p:nvSpPr>
        <p:spPr>
          <a:xfrm>
            <a:off x="5760720" y="3822192"/>
            <a:ext cx="2926080" cy="685800"/>
          </a:xfrm>
          <a:prstGeom prst="rect">
            <a:avLst/>
          </a:prstGeom>
          <a:noFill/>
          <a:ln/>
        </p:spPr>
        <p:txBody>
          <a:bodyPr wrap="square" lIns="0" tIns="0" rIns="0" bIns="0" rtlCol="0" anchor="t"/>
          <a:lstStyle/>
          <a:p>
            <a:pPr indent="0" marL="0">
              <a:buNone/>
            </a:pPr>
            <a:r>
              <a:rPr lang="en-US" sz="1400" dirty="0">
                <a:solidFill>
                  <a:schemeClr val="tx1"/>
                </a:solidFill>
              </a:rPr>
              <a:t>python app.py opens the app at localhost.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Bonus: tools over MCP</a:t>
            </a:r>
            <a:endParaRPr lang="en-US" sz="3200" dirty="0"/>
          </a:p>
        </p:txBody>
      </p:sp>
      <p:sp>
        <p:nvSpPr>
          <p:cNvPr id="3" name="node"/>
          <p:cNvSpPr/>
          <p:nvPr/>
        </p:nvSpPr>
        <p:spPr>
          <a:xfrm>
            <a:off x="457200" y="1554480"/>
            <a:ext cx="2377440" cy="1188720"/>
          </a:xfrm>
          <a:prstGeom prst="roundRect">
            <a:avLst>
              <a:gd name="adj" fmla="val 7692"/>
            </a:avLst>
          </a:prstGeom>
          <a:solidFill>
            <a:schemeClr val="tx2"/>
          </a:solidFill>
          <a:ln/>
        </p:spPr>
      </p:sp>
      <p:sp>
        <p:nvSpPr>
          <p:cNvPr id="4" name="Text 2"/>
          <p:cNvSpPr txBox="1"/>
          <p:nvPr/>
        </p:nvSpPr>
        <p:spPr>
          <a:xfrm>
            <a:off x="502920" y="1554480"/>
            <a:ext cx="2286000" cy="1188720"/>
          </a:xfrm>
          <a:prstGeom prst="rect">
            <a:avLst/>
          </a:prstGeom>
          <a:noFill/>
          <a:ln/>
        </p:spPr>
        <p:txBody>
          <a:bodyPr wrap="square" lIns="0" tIns="0" rIns="0" bIns="0" rtlCol="0" anchor="ctr"/>
          <a:lstStyle/>
          <a:p>
            <a:pPr algn="ctr" indent="0" marL="0">
              <a:buNone/>
            </a:pPr>
            <a:r>
              <a:rPr lang="en-US" sz="1300" b="1" dirty="0">
                <a:solidFill>
                  <a:schemeClr val="bg1"/>
                </a:solidFill>
              </a:rPr>
              <a:t>Agent</a:t>
            </a:r>
            <a:endParaRPr lang="en-US" sz="1300" dirty="0"/>
          </a:p>
          <a:p>
            <a:pPr algn="ctr" indent="0" marL="0">
              <a:buNone/>
            </a:pPr>
            <a:r>
              <a:rPr lang="en-US" sz="1300" b="1" dirty="0">
                <a:solidFill>
                  <a:schemeClr val="bg1"/>
                </a:solidFill>
              </a:rPr>
              <a:t>MultiServerMCPClient</a:t>
            </a:r>
            <a:endParaRPr lang="en-US" sz="1300" dirty="0"/>
          </a:p>
        </p:txBody>
      </p:sp>
      <p:sp>
        <p:nvSpPr>
          <p:cNvPr id="5" name="node"/>
          <p:cNvSpPr/>
          <p:nvPr/>
        </p:nvSpPr>
        <p:spPr>
          <a:xfrm>
            <a:off x="3657600" y="1554480"/>
            <a:ext cx="2194560" cy="1188720"/>
          </a:xfrm>
          <a:prstGeom prst="roundRect">
            <a:avLst>
              <a:gd name="adj" fmla="val 7692"/>
            </a:avLst>
          </a:prstGeom>
          <a:solidFill>
            <a:schemeClr val="accent1"/>
          </a:solidFill>
          <a:ln/>
        </p:spPr>
      </p:sp>
      <p:sp>
        <p:nvSpPr>
          <p:cNvPr id="6" name="Text 4"/>
          <p:cNvSpPr txBox="1"/>
          <p:nvPr/>
        </p:nvSpPr>
        <p:spPr>
          <a:xfrm>
            <a:off x="3703320" y="1554480"/>
            <a:ext cx="2103120" cy="1188720"/>
          </a:xfrm>
          <a:prstGeom prst="rect">
            <a:avLst/>
          </a:prstGeom>
          <a:noFill/>
          <a:ln/>
        </p:spPr>
        <p:txBody>
          <a:bodyPr wrap="square" lIns="0" tIns="0" rIns="0" bIns="0" rtlCol="0" anchor="ctr"/>
          <a:lstStyle/>
          <a:p>
            <a:pPr algn="ctr" indent="0" marL="0">
              <a:buNone/>
            </a:pPr>
            <a:r>
              <a:rPr lang="en-US" sz="1300" b="1" dirty="0">
                <a:solidFill>
                  <a:schemeClr val="bg1"/>
                </a:solidFill>
              </a:rPr>
              <a:t>FastMCP server</a:t>
            </a:r>
            <a:endParaRPr lang="en-US" sz="1300" dirty="0"/>
          </a:p>
          <a:p>
            <a:pPr algn="ctr" indent="0" marL="0">
              <a:buNone/>
            </a:pPr>
            <a:r>
              <a:rPr lang="en-US" sz="1300" b="1" dirty="0">
                <a:solidFill>
                  <a:schemeClr val="bg1"/>
                </a:solidFill>
              </a:rPr>
              <a:t>port 8001</a:t>
            </a:r>
            <a:endParaRPr lang="en-US" sz="1300" dirty="0"/>
          </a:p>
        </p:txBody>
      </p:sp>
      <p:sp>
        <p:nvSpPr>
          <p:cNvPr id="7" name="node"/>
          <p:cNvSpPr/>
          <p:nvPr/>
        </p:nvSpPr>
        <p:spPr>
          <a:xfrm>
            <a:off x="6675120" y="1554480"/>
            <a:ext cx="2011680" cy="1188720"/>
          </a:xfrm>
          <a:prstGeom prst="roundRect">
            <a:avLst>
              <a:gd name="adj" fmla="val 7692"/>
            </a:avLst>
          </a:prstGeom>
          <a:solidFill>
            <a:schemeClr val="accent2"/>
          </a:solidFill>
          <a:ln/>
        </p:spPr>
      </p:sp>
      <p:sp>
        <p:nvSpPr>
          <p:cNvPr id="8" name="Text 6"/>
          <p:cNvSpPr txBox="1"/>
          <p:nvPr/>
        </p:nvSpPr>
        <p:spPr>
          <a:xfrm>
            <a:off x="6720840" y="1554480"/>
            <a:ext cx="1920240" cy="1188720"/>
          </a:xfrm>
          <a:prstGeom prst="rect">
            <a:avLst/>
          </a:prstGeom>
          <a:noFill/>
          <a:ln/>
        </p:spPr>
        <p:txBody>
          <a:bodyPr wrap="square" lIns="0" tIns="0" rIns="0" bIns="0" rtlCol="0" anchor="ctr"/>
          <a:lstStyle/>
          <a:p>
            <a:pPr algn="ctr" indent="0" marL="0">
              <a:buNone/>
            </a:pPr>
            <a:r>
              <a:rPr lang="en-US" sz="1300" b="1" dirty="0">
                <a:solidFill>
                  <a:schemeClr val="tx1"/>
                </a:solidFill>
              </a:rPr>
              <a:t>3 tools</a:t>
            </a:r>
            <a:endParaRPr lang="en-US" sz="1300" dirty="0"/>
          </a:p>
          <a:p>
            <a:pPr algn="ctr" indent="0" marL="0">
              <a:buNone/>
            </a:pPr>
            <a:r>
              <a:rPr lang="en-US" sz="1300" b="1" dirty="0">
                <a:solidFill>
                  <a:schemeClr val="tx1"/>
                </a:solidFill>
              </a:rPr>
              <a:t>price · news · docs</a:t>
            </a:r>
            <a:endParaRPr lang="en-US" sz="1300" dirty="0"/>
          </a:p>
        </p:txBody>
      </p:sp>
      <p:sp>
        <p:nvSpPr>
          <p:cNvPr id="9" name="arrow"/>
          <p:cNvSpPr/>
          <p:nvPr/>
        </p:nvSpPr>
        <p:spPr>
          <a:xfrm>
            <a:off x="2834640" y="2011680"/>
            <a:ext cx="822960" cy="0"/>
          </a:xfrm>
          <a:prstGeom prst="line">
            <a:avLst/>
          </a:prstGeom>
          <a:noFill/>
          <a:ln w="22225">
            <a:solidFill>
              <a:schemeClr val="accent5"/>
            </a:solidFill>
            <a:prstDash val="solid"/>
            <a:tailEnd type="triangle"/>
          </a:ln>
        </p:spPr>
      </p:sp>
      <p:sp>
        <p:nvSpPr>
          <p:cNvPr id="10" name="arrow"/>
          <p:cNvSpPr/>
          <p:nvPr/>
        </p:nvSpPr>
        <p:spPr>
          <a:xfrm>
            <a:off x="3657600" y="2286000"/>
            <a:ext cx="-822960" cy="0"/>
          </a:xfrm>
          <a:prstGeom prst="line">
            <a:avLst/>
          </a:prstGeom>
          <a:noFill/>
          <a:ln w="22225">
            <a:solidFill>
              <a:schemeClr val="accent5"/>
            </a:solidFill>
            <a:prstDash val="solid"/>
            <a:tailEnd type="triangle"/>
          </a:ln>
        </p:spPr>
      </p:sp>
      <p:sp>
        <p:nvSpPr>
          <p:cNvPr id="11" name="arrow"/>
          <p:cNvSpPr/>
          <p:nvPr/>
        </p:nvSpPr>
        <p:spPr>
          <a:xfrm>
            <a:off x="5852160" y="2148840"/>
            <a:ext cx="822960" cy="0"/>
          </a:xfrm>
          <a:prstGeom prst="line">
            <a:avLst/>
          </a:prstGeom>
          <a:noFill/>
          <a:ln w="22225">
            <a:solidFill>
              <a:schemeClr val="accent5"/>
            </a:solidFill>
            <a:prstDash val="solid"/>
            <a:tailEnd type="triangle"/>
          </a:ln>
        </p:spPr>
      </p:sp>
      <p:sp>
        <p:nvSpPr>
          <p:cNvPr id="12" name="Text 10"/>
          <p:cNvSpPr txBox="1"/>
          <p:nvPr/>
        </p:nvSpPr>
        <p:spPr>
          <a:xfrm>
            <a:off x="2788920" y="1234440"/>
            <a:ext cx="914400" cy="228600"/>
          </a:xfrm>
          <a:prstGeom prst="rect">
            <a:avLst/>
          </a:prstGeom>
          <a:noFill/>
          <a:ln/>
        </p:spPr>
        <p:txBody>
          <a:bodyPr wrap="square" lIns="0" tIns="0" rIns="0" bIns="0" rtlCol="0" anchor="t"/>
          <a:lstStyle/>
          <a:p>
            <a:pPr algn="ctr" indent="0" marL="0">
              <a:buNone/>
            </a:pPr>
            <a:r>
              <a:rPr lang="en-US" sz="1100" dirty="0">
                <a:solidFill>
                  <a:schemeClr val="accent5"/>
                </a:solidFill>
              </a:rPr>
              <a:t>get_tools()</a:t>
            </a:r>
            <a:endParaRPr lang="en-US" sz="1100" dirty="0"/>
          </a:p>
        </p:txBody>
      </p:sp>
      <p:sp>
        <p:nvSpPr>
          <p:cNvPr id="13" name="mcp-card"/>
          <p:cNvSpPr/>
          <p:nvPr/>
        </p:nvSpPr>
        <p:spPr>
          <a:xfrm>
            <a:off x="457200" y="3063240"/>
            <a:ext cx="2560320" cy="1508760"/>
          </a:xfrm>
          <a:prstGeom prst="roundRect">
            <a:avLst>
              <a:gd name="adj" fmla="val 7273"/>
            </a:avLst>
          </a:prstGeom>
          <a:solidFill>
            <a:schemeClr val="bg2"/>
          </a:solidFill>
          <a:ln/>
        </p:spPr>
      </p:sp>
      <p:sp>
        <p:nvSpPr>
          <p:cNvPr id="14" name="Text 12"/>
          <p:cNvSpPr txBox="1"/>
          <p:nvPr/>
        </p:nvSpPr>
        <p:spPr>
          <a:xfrm>
            <a:off x="640080" y="3200400"/>
            <a:ext cx="2194560" cy="274320"/>
          </a:xfrm>
          <a:prstGeom prst="rect">
            <a:avLst/>
          </a:prstGeom>
          <a:noFill/>
          <a:ln/>
        </p:spPr>
        <p:txBody>
          <a:bodyPr wrap="square" lIns="0" tIns="0" rIns="0" bIns="0" rtlCol="0" anchor="t"/>
          <a:lstStyle/>
          <a:p>
            <a:pPr indent="0" marL="0">
              <a:buNone/>
            </a:pPr>
            <a:r>
              <a:rPr lang="en-US" sz="1500" b="1" dirty="0">
                <a:solidFill>
                  <a:schemeClr val="tx2"/>
                </a:solidFill>
              </a:rPr>
              <a:t>Run the server</a:t>
            </a:r>
            <a:endParaRPr lang="en-US" sz="1500" dirty="0"/>
          </a:p>
        </p:txBody>
      </p:sp>
      <p:sp>
        <p:nvSpPr>
          <p:cNvPr id="15" name="Text 13"/>
          <p:cNvSpPr txBox="1"/>
          <p:nvPr/>
        </p:nvSpPr>
        <p:spPr>
          <a:xfrm>
            <a:off x="640080" y="3520440"/>
            <a:ext cx="2194560" cy="1005840"/>
          </a:xfrm>
          <a:prstGeom prst="rect">
            <a:avLst/>
          </a:prstGeom>
          <a:noFill/>
          <a:ln/>
        </p:spPr>
        <p:txBody>
          <a:bodyPr wrap="square" lIns="0" tIns="0" rIns="0" bIns="0" rtlCol="0" anchor="t"/>
          <a:lstStyle/>
          <a:p>
            <a:pPr indent="0" marL="0">
              <a:buNone/>
            </a:pPr>
            <a:r>
              <a:rPr lang="en-US" sz="1300" dirty="0">
                <a:solidFill>
                  <a:schemeClr val="tx1"/>
                </a:solidFill>
              </a:rPr>
              <a:t>python mcp_server.py exposes the same @tool functions over streamable HTTP.</a:t>
            </a:r>
            <a:endParaRPr lang="en-US" sz="1300" dirty="0"/>
          </a:p>
        </p:txBody>
      </p:sp>
      <p:sp>
        <p:nvSpPr>
          <p:cNvPr id="16" name="mcp-card"/>
          <p:cNvSpPr/>
          <p:nvPr/>
        </p:nvSpPr>
        <p:spPr>
          <a:xfrm>
            <a:off x="3291840" y="3063240"/>
            <a:ext cx="2560320" cy="1508760"/>
          </a:xfrm>
          <a:prstGeom prst="roundRect">
            <a:avLst>
              <a:gd name="adj" fmla="val 7273"/>
            </a:avLst>
          </a:prstGeom>
          <a:solidFill>
            <a:schemeClr val="bg2"/>
          </a:solidFill>
          <a:ln/>
        </p:spPr>
      </p:sp>
      <p:sp>
        <p:nvSpPr>
          <p:cNvPr id="17" name="Text 15"/>
          <p:cNvSpPr txBox="1"/>
          <p:nvPr/>
        </p:nvSpPr>
        <p:spPr>
          <a:xfrm>
            <a:off x="3474720" y="3200400"/>
            <a:ext cx="2194560" cy="274320"/>
          </a:xfrm>
          <a:prstGeom prst="rect">
            <a:avLst/>
          </a:prstGeom>
          <a:noFill/>
          <a:ln/>
        </p:spPr>
        <p:txBody>
          <a:bodyPr wrap="square" lIns="0" tIns="0" rIns="0" bIns="0" rtlCol="0" anchor="t"/>
          <a:lstStyle/>
          <a:p>
            <a:pPr indent="0" marL="0">
              <a:buNone/>
            </a:pPr>
            <a:r>
              <a:rPr lang="en-US" sz="1500" b="1" dirty="0">
                <a:solidFill>
                  <a:schemeClr val="tx2"/>
                </a:solidFill>
              </a:rPr>
              <a:t>Fetch at runtime</a:t>
            </a:r>
            <a:endParaRPr lang="en-US" sz="1500" dirty="0"/>
          </a:p>
        </p:txBody>
      </p:sp>
      <p:sp>
        <p:nvSpPr>
          <p:cNvPr id="18" name="Text 16"/>
          <p:cNvSpPr txBox="1"/>
          <p:nvPr/>
        </p:nvSpPr>
        <p:spPr>
          <a:xfrm>
            <a:off x="3474720" y="3520440"/>
            <a:ext cx="2194560" cy="1005840"/>
          </a:xfrm>
          <a:prstGeom prst="rect">
            <a:avLst/>
          </a:prstGeom>
          <a:noFill/>
          <a:ln/>
        </p:spPr>
        <p:txBody>
          <a:bodyPr wrap="square" lIns="0" tIns="0" rIns="0" bIns="0" rtlCol="0" anchor="t"/>
          <a:lstStyle/>
          <a:p>
            <a:pPr indent="0" marL="0">
              <a:buNone/>
            </a:pPr>
            <a:r>
              <a:rPr lang="en-US" sz="1300" dirty="0">
                <a:solidFill>
                  <a:schemeClr val="tx1"/>
                </a:solidFill>
              </a:rPr>
              <a:t>python agent_mcp.py discovers tools by URL, not by import.</a:t>
            </a:r>
            <a:endParaRPr lang="en-US" sz="1300" dirty="0"/>
          </a:p>
        </p:txBody>
      </p:sp>
      <p:sp>
        <p:nvSpPr>
          <p:cNvPr id="19" name="mcp-card"/>
          <p:cNvSpPr/>
          <p:nvPr/>
        </p:nvSpPr>
        <p:spPr>
          <a:xfrm>
            <a:off x="6126480" y="3063240"/>
            <a:ext cx="2560320" cy="1508760"/>
          </a:xfrm>
          <a:prstGeom prst="roundRect">
            <a:avLst>
              <a:gd name="adj" fmla="val 7273"/>
            </a:avLst>
          </a:prstGeom>
          <a:solidFill>
            <a:schemeClr val="bg2"/>
          </a:solidFill>
          <a:ln/>
        </p:spPr>
      </p:sp>
      <p:sp>
        <p:nvSpPr>
          <p:cNvPr id="20" name="Text 18"/>
          <p:cNvSpPr txBox="1"/>
          <p:nvPr/>
        </p:nvSpPr>
        <p:spPr>
          <a:xfrm>
            <a:off x="6309360" y="3200400"/>
            <a:ext cx="2194560" cy="274320"/>
          </a:xfrm>
          <a:prstGeom prst="rect">
            <a:avLst/>
          </a:prstGeom>
          <a:noFill/>
          <a:ln/>
        </p:spPr>
        <p:txBody>
          <a:bodyPr wrap="square" lIns="0" tIns="0" rIns="0" bIns="0" rtlCol="0" anchor="t"/>
          <a:lstStyle/>
          <a:p>
            <a:pPr indent="0" marL="0">
              <a:buNone/>
            </a:pPr>
            <a:r>
              <a:rPr lang="en-US" sz="1500" b="1" dirty="0">
                <a:solidFill>
                  <a:schemeClr val="tx2"/>
                </a:solidFill>
              </a:rPr>
              <a:t>Why it matters</a:t>
            </a:r>
            <a:endParaRPr lang="en-US" sz="1500" dirty="0"/>
          </a:p>
        </p:txBody>
      </p:sp>
      <p:sp>
        <p:nvSpPr>
          <p:cNvPr id="21" name="Text 19"/>
          <p:cNvSpPr txBox="1"/>
          <p:nvPr/>
        </p:nvSpPr>
        <p:spPr>
          <a:xfrm>
            <a:off x="6309360" y="3520440"/>
            <a:ext cx="2194560" cy="1005840"/>
          </a:xfrm>
          <a:prstGeom prst="rect">
            <a:avLst/>
          </a:prstGeom>
          <a:noFill/>
          <a:ln/>
        </p:spPr>
        <p:txBody>
          <a:bodyPr wrap="square" lIns="0" tIns="0" rIns="0" bIns="0" rtlCol="0" anchor="t"/>
          <a:lstStyle/>
          <a:p>
            <a:pPr indent="0" marL="0">
              <a:buNone/>
            </a:pPr>
            <a:r>
              <a:rPr lang="en-US" sz="1300" dirty="0">
                <a:solidFill>
                  <a:schemeClr val="tx1"/>
                </a:solidFill>
              </a:rPr>
              <a:t>Tools become reusable by any MCP-compatible client or agent.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How we meet the judging criteria</a:t>
            </a:r>
            <a:endParaRPr lang="en-US" sz="3200" dirty="0"/>
          </a:p>
        </p:txBody>
      </p:sp>
      <p:sp>
        <p:nvSpPr>
          <p:cNvPr id="3" name="criteria-card"/>
          <p:cNvSpPr/>
          <p:nvPr/>
        </p:nvSpPr>
        <p:spPr>
          <a:xfrm>
            <a:off x="457200" y="1234440"/>
            <a:ext cx="8229600" cy="1005840"/>
          </a:xfrm>
          <a:prstGeom prst="roundRect">
            <a:avLst>
              <a:gd name="adj" fmla="val 10909"/>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685800" y="1435608"/>
            <a:ext cx="603504" cy="603504"/>
          </a:xfrm>
          <a:prstGeom prst="ellipse">
            <a:avLst/>
          </a:prstGeom>
          <a:solidFill>
            <a:schemeClr val="accent5"/>
          </a:solidFill>
          <a:ln/>
        </p:spPr>
      </p:sp>
      <p:pic>
        <p:nvPicPr>
          <p:cNvPr id="5" name="Image 0" descr="icon">    </p:cNvPr>
          <p:cNvPicPr>
            <a:picLocks noChangeAspect="1"/>
          </p:cNvPicPr>
          <p:nvPr/>
        </p:nvPicPr>
        <p:blipFill>
          <a:blip r:embed="rId1"/>
          <a:stretch>
            <a:fillRect/>
          </a:stretch>
        </p:blipFill>
        <p:spPr>
          <a:xfrm>
            <a:off x="836676" y="1586484"/>
            <a:ext cx="301752" cy="301752"/>
          </a:xfrm>
          <a:prstGeom prst="rect">
            <a:avLst/>
          </a:prstGeom>
        </p:spPr>
      </p:pic>
      <p:sp>
        <p:nvSpPr>
          <p:cNvPr id="6" name="Text 3"/>
          <p:cNvSpPr txBox="1"/>
          <p:nvPr/>
        </p:nvSpPr>
        <p:spPr>
          <a:xfrm>
            <a:off x="1508760" y="1371600"/>
            <a:ext cx="6949440" cy="320040"/>
          </a:xfrm>
          <a:prstGeom prst="rect">
            <a:avLst/>
          </a:prstGeom>
          <a:noFill/>
          <a:ln/>
        </p:spPr>
        <p:txBody>
          <a:bodyPr wrap="square" lIns="0" tIns="0" rIns="0" bIns="0" rtlCol="0" anchor="t"/>
          <a:lstStyle/>
          <a:p>
            <a:pPr indent="0" marL="0">
              <a:buNone/>
            </a:pPr>
            <a:r>
              <a:rPr lang="en-US" sz="1700" b="1" dirty="0">
                <a:solidFill>
                  <a:schemeClr val="tx2"/>
                </a:solidFill>
              </a:rPr>
              <a:t>Live vs static distinction</a:t>
            </a:r>
            <a:endParaRPr lang="en-US" sz="1700" dirty="0"/>
          </a:p>
        </p:txBody>
      </p:sp>
      <p:sp>
        <p:nvSpPr>
          <p:cNvPr id="7" name="Text 4"/>
          <p:cNvSpPr txBox="1"/>
          <p:nvPr/>
        </p:nvSpPr>
        <p:spPr>
          <a:xfrm>
            <a:off x="1508760" y="1709928"/>
            <a:ext cx="6949440" cy="457200"/>
          </a:xfrm>
          <a:prstGeom prst="rect">
            <a:avLst/>
          </a:prstGeom>
          <a:noFill/>
          <a:ln/>
        </p:spPr>
        <p:txBody>
          <a:bodyPr wrap="square" lIns="0" tIns="0" rIns="0" bIns="0" rtlCol="0" anchor="t"/>
          <a:lstStyle/>
          <a:p>
            <a:pPr indent="0" marL="0">
              <a:buNone/>
            </a:pPr>
            <a:r>
              <a:rPr lang="en-US" sz="1400" dirty="0">
                <a:solidFill>
                  <a:schemeClr val="tx1"/>
                </a:solidFill>
              </a:rPr>
              <a:t>Source tags in tool output + prompt rule: label every number as live market or document.</a:t>
            </a:r>
            <a:endParaRPr lang="en-US" sz="1400" dirty="0"/>
          </a:p>
        </p:txBody>
      </p:sp>
      <p:sp>
        <p:nvSpPr>
          <p:cNvPr id="8" name="criteria-card"/>
          <p:cNvSpPr/>
          <p:nvPr/>
        </p:nvSpPr>
        <p:spPr>
          <a:xfrm>
            <a:off x="457200" y="2377440"/>
            <a:ext cx="8229600" cy="1005840"/>
          </a:xfrm>
          <a:prstGeom prst="roundRect">
            <a:avLst>
              <a:gd name="adj" fmla="val 10909"/>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685800" y="2578608"/>
            <a:ext cx="603504" cy="603504"/>
          </a:xfrm>
          <a:prstGeom prst="ellipse">
            <a:avLst/>
          </a:prstGeom>
          <a:solidFill>
            <a:schemeClr val="accent1"/>
          </a:solidFill>
          <a:ln/>
        </p:spPr>
      </p:sp>
      <p:pic>
        <p:nvPicPr>
          <p:cNvPr id="10" name="Image 1" descr="icon">    </p:cNvPr>
          <p:cNvPicPr>
            <a:picLocks noChangeAspect="1"/>
          </p:cNvPicPr>
          <p:nvPr/>
        </p:nvPicPr>
        <p:blipFill>
          <a:blip r:embed="rId2"/>
          <a:stretch>
            <a:fillRect/>
          </a:stretch>
        </p:blipFill>
        <p:spPr>
          <a:xfrm>
            <a:off x="836676" y="2729484"/>
            <a:ext cx="301752" cy="301752"/>
          </a:xfrm>
          <a:prstGeom prst="rect">
            <a:avLst/>
          </a:prstGeom>
        </p:spPr>
      </p:pic>
      <p:sp>
        <p:nvSpPr>
          <p:cNvPr id="11" name="Text 7"/>
          <p:cNvSpPr txBox="1"/>
          <p:nvPr/>
        </p:nvSpPr>
        <p:spPr>
          <a:xfrm>
            <a:off x="1508760" y="2514600"/>
            <a:ext cx="6949440" cy="320040"/>
          </a:xfrm>
          <a:prstGeom prst="rect">
            <a:avLst/>
          </a:prstGeom>
          <a:noFill/>
          <a:ln/>
        </p:spPr>
        <p:txBody>
          <a:bodyPr wrap="square" lIns="0" tIns="0" rIns="0" bIns="0" rtlCol="0" anchor="t"/>
          <a:lstStyle/>
          <a:p>
            <a:pPr indent="0" marL="0">
              <a:buNone/>
            </a:pPr>
            <a:r>
              <a:rPr lang="en-US" sz="1700" b="1" dirty="0">
                <a:solidFill>
                  <a:schemeClr val="tx2"/>
                </a:solidFill>
              </a:rPr>
              <a:t>Numeric accuracy from retrieval</a:t>
            </a:r>
            <a:endParaRPr lang="en-US" sz="1700" dirty="0"/>
          </a:p>
        </p:txBody>
      </p:sp>
      <p:sp>
        <p:nvSpPr>
          <p:cNvPr id="12" name="Text 8"/>
          <p:cNvSpPr txBox="1"/>
          <p:nvPr/>
        </p:nvSpPr>
        <p:spPr>
          <a:xfrm>
            <a:off x="1508760" y="2852928"/>
            <a:ext cx="6949440" cy="457200"/>
          </a:xfrm>
          <a:prstGeom prst="rect">
            <a:avLst/>
          </a:prstGeom>
          <a:noFill/>
          <a:ln/>
        </p:spPr>
        <p:txBody>
          <a:bodyPr wrap="square" lIns="0" tIns="0" rIns="0" bIns="0" rtlCol="0" anchor="t"/>
          <a:lstStyle/>
          <a:p>
            <a:pPr indent="0" marL="0">
              <a:buNone/>
            </a:pPr>
            <a:r>
              <a:rPr lang="en-US" sz="1400" dirty="0">
                <a:solidFill>
                  <a:schemeClr val="tx1"/>
                </a:solidFill>
              </a:rPr>
              <a:t>Tuned chunking keeps labels with values; retriever tested on numeric queries; temperature 0.</a:t>
            </a:r>
            <a:endParaRPr lang="en-US" sz="1400" dirty="0"/>
          </a:p>
        </p:txBody>
      </p:sp>
      <p:sp>
        <p:nvSpPr>
          <p:cNvPr id="13" name="criteria-card"/>
          <p:cNvSpPr/>
          <p:nvPr/>
        </p:nvSpPr>
        <p:spPr>
          <a:xfrm>
            <a:off x="457200" y="3520440"/>
            <a:ext cx="8229600" cy="1005840"/>
          </a:xfrm>
          <a:prstGeom prst="roundRect">
            <a:avLst>
              <a:gd name="adj" fmla="val 10909"/>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685800" y="3721608"/>
            <a:ext cx="603504" cy="603504"/>
          </a:xfrm>
          <a:prstGeom prst="ellipse">
            <a:avLst/>
          </a:prstGeom>
          <a:solidFill>
            <a:schemeClr val="tx2"/>
          </a:solidFill>
          <a:ln/>
        </p:spPr>
      </p:sp>
      <p:pic>
        <p:nvPicPr>
          <p:cNvPr id="15" name="Image 2" descr="icon">    </p:cNvPr>
          <p:cNvPicPr>
            <a:picLocks noChangeAspect="1"/>
          </p:cNvPicPr>
          <p:nvPr/>
        </p:nvPicPr>
        <p:blipFill>
          <a:blip r:embed="rId3"/>
          <a:stretch>
            <a:fillRect/>
          </a:stretch>
        </p:blipFill>
        <p:spPr>
          <a:xfrm>
            <a:off x="836676" y="3872484"/>
            <a:ext cx="301752" cy="301752"/>
          </a:xfrm>
          <a:prstGeom prst="rect">
            <a:avLst/>
          </a:prstGeom>
        </p:spPr>
      </p:pic>
      <p:sp>
        <p:nvSpPr>
          <p:cNvPr id="16" name="Text 11"/>
          <p:cNvSpPr txBox="1"/>
          <p:nvPr/>
        </p:nvSpPr>
        <p:spPr>
          <a:xfrm>
            <a:off x="1508760" y="3657600"/>
            <a:ext cx="6949440" cy="320040"/>
          </a:xfrm>
          <a:prstGeom prst="rect">
            <a:avLst/>
          </a:prstGeom>
          <a:noFill/>
          <a:ln/>
        </p:spPr>
        <p:txBody>
          <a:bodyPr wrap="square" lIns="0" tIns="0" rIns="0" bIns="0" rtlCol="0" anchor="t"/>
          <a:lstStyle/>
          <a:p>
            <a:pPr indent="0" marL="0">
              <a:buNone/>
            </a:pPr>
            <a:r>
              <a:rPr lang="en-US" sz="1700" b="1" dirty="0">
                <a:solidFill>
                  <a:schemeClr val="tx2"/>
                </a:solidFill>
              </a:rPr>
              <a:t>Correct tool sequencing</a:t>
            </a:r>
            <a:endParaRPr lang="en-US" sz="1700" dirty="0"/>
          </a:p>
        </p:txBody>
      </p:sp>
      <p:sp>
        <p:nvSpPr>
          <p:cNvPr id="17" name="Text 12"/>
          <p:cNvSpPr txBox="1"/>
          <p:nvPr/>
        </p:nvSpPr>
        <p:spPr>
          <a:xfrm>
            <a:off x="1508760" y="3995928"/>
            <a:ext cx="6949440" cy="457200"/>
          </a:xfrm>
          <a:prstGeom prst="rect">
            <a:avLst/>
          </a:prstGeom>
          <a:noFill/>
          <a:ln/>
        </p:spPr>
        <p:txBody>
          <a:bodyPr wrap="square" lIns="0" tIns="0" rIns="0" bIns="0" rtlCol="0" anchor="t"/>
          <a:lstStyle/>
          <a:p>
            <a:pPr indent="0" marL="0">
              <a:buNone/>
            </a:pPr>
            <a:r>
              <a:rPr lang="en-US" sz="1400" dirty="0">
                <a:solidFill>
                  <a:schemeClr val="tx1"/>
                </a:solidFill>
              </a:rPr>
              <a:t>Prompt forces classify, then call one or both tools, then combine into one answer.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Challenges and next steps</a:t>
            </a:r>
            <a:endParaRPr lang="en-US" sz="3200" dirty="0"/>
          </a:p>
        </p:txBody>
      </p:sp>
      <p:sp>
        <p:nvSpPr>
          <p:cNvPr id="3" name="challenge-card"/>
          <p:cNvSpPr/>
          <p:nvPr/>
        </p:nvSpPr>
        <p:spPr>
          <a:xfrm>
            <a:off x="457200" y="1234440"/>
            <a:ext cx="3977640" cy="3108960"/>
          </a:xfrm>
          <a:prstGeom prst="roundRect">
            <a:avLst>
              <a:gd name="adj" fmla="val 3529"/>
            </a:avLst>
          </a:prstGeom>
          <a:solidFill>
            <a:schemeClr val="bg2"/>
          </a:solidFill>
          <a:ln/>
        </p:spPr>
      </p:sp>
      <p:sp>
        <p:nvSpPr>
          <p:cNvPr id="4" name="Text 2"/>
          <p:cNvSpPr txBox="1"/>
          <p:nvPr/>
        </p:nvSpPr>
        <p:spPr>
          <a:xfrm>
            <a:off x="685800" y="1371600"/>
            <a:ext cx="3566160" cy="320040"/>
          </a:xfrm>
          <a:prstGeom prst="rect">
            <a:avLst/>
          </a:prstGeom>
          <a:noFill/>
          <a:ln/>
        </p:spPr>
        <p:txBody>
          <a:bodyPr wrap="square" lIns="0" tIns="0" rIns="0" bIns="0" rtlCol="0" anchor="t"/>
          <a:lstStyle/>
          <a:p>
            <a:pPr indent="0" marL="0">
              <a:buNone/>
            </a:pPr>
            <a:r>
              <a:rPr lang="en-US" sz="1800" b="1" dirty="0">
                <a:solidFill>
                  <a:schemeClr val="tx2"/>
                </a:solidFill>
              </a:rPr>
              <a:t>Challenges solved</a:t>
            </a:r>
            <a:endParaRPr lang="en-US" sz="1800" dirty="0"/>
          </a:p>
        </p:txBody>
      </p:sp>
      <p:sp>
        <p:nvSpPr>
          <p:cNvPr id="5" name="Text 3"/>
          <p:cNvSpPr txBox="1"/>
          <p:nvPr/>
        </p:nvSpPr>
        <p:spPr>
          <a:xfrm>
            <a:off x="685800" y="1828800"/>
            <a:ext cx="35661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Tables split mid-row: larger chunks, overlap, better separators</a:t>
            </a:r>
            <a:endParaRPr lang="en-US" sz="1600" dirty="0"/>
          </a:p>
          <a:p>
            <a:pPr marL="342900" indent="-342900">
              <a:spcAft>
                <a:spcPts val="1200"/>
              </a:spcAft>
              <a:buSzPct val="100000"/>
              <a:buChar char="•"/>
            </a:pPr>
            <a:r>
              <a:rPr lang="en-US" sz="1600" dirty="0">
                <a:solidFill>
                  <a:schemeClr val="tx1"/>
                </a:solidFill>
              </a:rPr>
              <a:t>Unit confusion: units in every docstring and answer</a:t>
            </a:r>
            <a:endParaRPr lang="en-US" sz="1600" dirty="0"/>
          </a:p>
          <a:p>
            <a:pPr marL="342900" indent="-342900">
              <a:spcAft>
                <a:spcPts val="1200"/>
              </a:spcAft>
              <a:buSzPct val="100000"/>
              <a:buChar char="•"/>
            </a:pPr>
            <a:r>
              <a:rPr lang="en-US" sz="1600" dirty="0">
                <a:solidFill>
                  <a:schemeClr val="tx1"/>
                </a:solidFill>
              </a:rPr>
              <a:t>Tool-call reliability: pick a tool-capable model, temperature 0</a:t>
            </a:r>
            <a:endParaRPr lang="en-US" sz="1600" dirty="0"/>
          </a:p>
        </p:txBody>
      </p:sp>
      <p:sp>
        <p:nvSpPr>
          <p:cNvPr id="6" name="next-card"/>
          <p:cNvSpPr/>
          <p:nvPr/>
        </p:nvSpPr>
        <p:spPr>
          <a:xfrm>
            <a:off x="4709160" y="1234440"/>
            <a:ext cx="3977640" cy="3108960"/>
          </a:xfrm>
          <a:prstGeom prst="roundRect">
            <a:avLst>
              <a:gd name="adj" fmla="val 3529"/>
            </a:avLst>
          </a:prstGeom>
          <a:solidFill>
            <a:schemeClr val="bg2"/>
          </a:solidFill>
          <a:ln/>
        </p:spPr>
      </p:sp>
      <p:sp>
        <p:nvSpPr>
          <p:cNvPr id="7" name="Text 5"/>
          <p:cNvSpPr txBox="1"/>
          <p:nvPr/>
        </p:nvSpPr>
        <p:spPr>
          <a:xfrm>
            <a:off x="4937760" y="1371600"/>
            <a:ext cx="3566160" cy="320040"/>
          </a:xfrm>
          <a:prstGeom prst="rect">
            <a:avLst/>
          </a:prstGeom>
          <a:noFill/>
          <a:ln/>
        </p:spPr>
        <p:txBody>
          <a:bodyPr wrap="square" lIns="0" tIns="0" rIns="0" bIns="0" rtlCol="0" anchor="t"/>
          <a:lstStyle/>
          <a:p>
            <a:pPr indent="0" marL="0">
              <a:buNone/>
            </a:pPr>
            <a:r>
              <a:rPr lang="en-US" sz="1800" b="1" dirty="0">
                <a:solidFill>
                  <a:schemeClr val="tx2"/>
                </a:solidFill>
              </a:rPr>
              <a:t>Next steps</a:t>
            </a:r>
            <a:endParaRPr lang="en-US" sz="1800" dirty="0"/>
          </a:p>
        </p:txBody>
      </p:sp>
      <p:sp>
        <p:nvSpPr>
          <p:cNvPr id="8" name="Text 6"/>
          <p:cNvSpPr txBox="1"/>
          <p:nvPr/>
        </p:nvSpPr>
        <p:spPr>
          <a:xfrm>
            <a:off x="4937760" y="1828800"/>
            <a:ext cx="35661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Table-aware PDF parsing for cleaner numbers</a:t>
            </a:r>
            <a:endParaRPr lang="en-US" sz="1600" dirty="0"/>
          </a:p>
          <a:p>
            <a:pPr marL="342900" indent="-342900">
              <a:spcAft>
                <a:spcPts val="1200"/>
              </a:spcAft>
              <a:buSzPct val="100000"/>
              <a:buChar char="•"/>
            </a:pPr>
            <a:r>
              <a:rPr lang="en-US" sz="1600" dirty="0">
                <a:solidFill>
                  <a:schemeClr val="tx1"/>
                </a:solidFill>
              </a:rPr>
              <a:t>A small test set of numeric questions to score accuracy</a:t>
            </a:r>
            <a:endParaRPr lang="en-US" sz="1600" dirty="0"/>
          </a:p>
          <a:p>
            <a:pPr marL="342900" indent="-342900">
              <a:spcAft>
                <a:spcPts val="1200"/>
              </a:spcAft>
              <a:buSzPct val="100000"/>
              <a:buChar char="•"/>
            </a:pPr>
            <a:r>
              <a:rPr lang="en-US" sz="1600" dirty="0">
                <a:solidFill>
                  <a:schemeClr val="tx1"/>
                </a:solidFill>
              </a:rPr>
              <a:t>More tools: ratios, currency conversion, portfolio view</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Python program: files and run</a:t>
            </a:r>
            <a:endParaRPr lang="en-US" sz="3200" dirty="0"/>
          </a:p>
        </p:txBody>
      </p:sp>
      <p:sp>
        <p:nvSpPr>
          <p:cNvPr id="3" name="code-card"/>
          <p:cNvSpPr/>
          <p:nvPr/>
        </p:nvSpPr>
        <p:spPr>
          <a:xfrm>
            <a:off x="457200" y="1188720"/>
            <a:ext cx="3749040" cy="3291840"/>
          </a:xfrm>
          <a:prstGeom prst="roundRect">
            <a:avLst>
              <a:gd name="adj" fmla="val 2778"/>
            </a:avLst>
          </a:prstGeom>
          <a:solidFill>
            <a:schemeClr val="tx1"/>
          </a:solidFill>
          <a:ln/>
        </p:spPr>
      </p:sp>
      <p:sp>
        <p:nvSpPr>
          <p:cNvPr id="4" name="Text 2"/>
          <p:cNvSpPr txBox="1"/>
          <p:nvPr/>
        </p:nvSpPr>
        <p:spPr>
          <a:xfrm>
            <a:off x="640080" y="1325880"/>
            <a:ext cx="338328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invest_agent/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config.py       settings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ingest.py       load, split, embed</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tools.py        3 @tool functions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agent.py        ReAct agent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app.py          Gradio UI</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mcp_server.py   bonus: server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agent_mcp.py    bonus: client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data/           your PDFs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requirements.txt</a:t>
            </a:r>
            <a:endParaRPr lang="en-US" sz="1100" dirty="0"/>
          </a:p>
        </p:txBody>
      </p:sp>
      <p:sp>
        <p:nvSpPr>
          <p:cNvPr id="5" name="code-card"/>
          <p:cNvSpPr/>
          <p:nvPr/>
        </p:nvSpPr>
        <p:spPr>
          <a:xfrm>
            <a:off x="4389120" y="1188720"/>
            <a:ext cx="4297680" cy="3291840"/>
          </a:xfrm>
          <a:prstGeom prst="roundRect">
            <a:avLst>
              <a:gd name="adj" fmla="val 2778"/>
            </a:avLst>
          </a:prstGeom>
          <a:solidFill>
            <a:schemeClr val="tx1"/>
          </a:solidFill>
          <a:ln/>
        </p:spPr>
      </p:sp>
      <p:sp>
        <p:nvSpPr>
          <p:cNvPr id="6" name="Text 4"/>
          <p:cNvSpPr txBox="1"/>
          <p:nvPr/>
        </p:nvSpPr>
        <p:spPr>
          <a:xfrm>
            <a:off x="4572000" y="1325880"/>
            <a:ext cx="393192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pip install -r requirements.txt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ollama pull llama3.1</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ollama pull nomic-embed-text</a:t>
            </a:r>
            <a:endParaRPr lang="en-US" sz="1100" dirty="0"/>
          </a:p>
          <a:p>
            <a:pPr indent="0" marL="0">
              <a:spcAft>
                <a:spcPts val="200"/>
              </a:spcAft>
              <a:buNone/>
            </a:pPr>
            <a:r>
              <a:rPr lang="en-US" sz="1100" dirty="0">
                <a:solidFill>
                  <a:schemeClr val="accent6"/>
                </a:solidFill>
                <a:latin typeface="Courier New" pitchFamily="34" charset="0"/>
                <a:ea typeface="Courier New" pitchFamily="34" charset="-122"/>
                <a:cs typeface="Courier New" pitchFamily="34" charset="-120"/>
              </a:rPr>
              <a:t># put a PDF in ./data, then:</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ingest.py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ingest.py --test "revenue Q2"</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agent.py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app.py</a:t>
            </a:r>
            <a:endParaRPr lang="en-US" sz="1100" dirty="0"/>
          </a:p>
          <a:p>
            <a:pPr indent="0" marL="0">
              <a:spcAft>
                <a:spcPts val="200"/>
              </a:spcAft>
              <a:buNone/>
            </a:pPr>
            <a:r>
              <a:rPr lang="en-US" sz="1100" dirty="0">
                <a:solidFill>
                  <a:schemeClr val="accent6"/>
                </a:solidFill>
                <a:latin typeface="Courier New" pitchFamily="34" charset="0"/>
                <a:ea typeface="Courier New" pitchFamily="34" charset="-122"/>
                <a:cs typeface="Courier New" pitchFamily="34" charset="-120"/>
              </a:rPr>
              <a:t># bonus (two terminals)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mcp_server.py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python agent_mcp.py</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ingest.py (load and split)</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load_documents():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docs = []</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for path in glob.glob(os.path.join(config.DATA_DIR, "*")):</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if path.lower().endswith(".pdf"):</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docs += PyPDFLoader(path).load()     # 1 Document per page + metadata</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elif path.lower().endswith((".txt", ".md")):</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docs += TextLoader(path, encoding="utf-8").load()</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docs</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build_index():</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splitter = RecursiveCharacterTextSplitter(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chunk_size=1200, chunk_overlap=250,</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separators=["\n\n", "\n", ". ", " ", ""])  # prefer row/paragraph breaks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chunks = splitter.split_documents(load_documents())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Chroma.from_documents(chunks, OllamaEmbeddings(model="nomic-embed-text"),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collection_name="financial_docs", persist_directory="chroma_db")</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Steps 2-4. Run once with: python ingest.py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ingest.py (retriever)</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get_vectorstore():</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Chroma(collection_name=config.COLLECTION,</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embedding_function=OllamaEmbeddings(model=config.EMBED_MODEL),</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persist_directory=config.CHROMA_DIR)</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get_retriever():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get_vectorstore().as_retriever(search_kwargs={"k": 3})</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test(query):          # python ingest.py --test "what was revenue in Q2"</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for i, d in enumerate(get_retriever().invoke(query), 1):</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print(f"[{i}] {d.metadata.get('source')} p.{d.metadata.get('page')}")</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print(d.page_content[:500])</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 5. Simplified excerpt. The test function is the check before building the agent.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tools.py (live data)</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@tool</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get_stock_price(ticker: str) -&gt; str: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"""LIVE MARKET DATA. Latest traded price for a ticker.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NSE '.NS' / BSE '.BO' -&gt; INR; US tickers (AAPL) -&gt; USD.</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Per share, NOT in crores/millions."""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fi = yf.Ticker(ticker).fast_info</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(f"[SOURCE: LIVE MARKET] {ticker.upper()} last price: "</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f"{fi['last_price']:,.2f} {fi['currency']} per share.")</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@tool</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get_stock_news(ticker: str) -&gt; str: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"""LIVE MARKET DATA. Up to 5 recent headlines for a ticker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(same ticker format as get_stock_price)."""</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items = yf.Ticker(ticker).news[:5]</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lines = [f"- {n.get('content', n).get('title')}" for n in items]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"[SOURCE: LIVE NEWS]\n" + "\n".join(lines)</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Steps 6-7. Simplified excerpt; the project file also handles errors. Docstrings state currency and units.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tools.py (documents)</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@tool</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search_financial_documents(query: str) -&gt; str: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"""STATIC DOCUMENT DATA. Top 3 passages from the ingested annual reports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and fact sheets, with file name and page. Figures are in the document's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own units (e.g. INR crores) and period, NOT today's values."""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docs = get_retriever().invoke(query)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out = ["[SOURCE: STATIC DOCUMENT]"]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for d in docs: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out.append(f"(file: {os.path.basename(d.metadata['source'])}, "</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f"page: {d.metadata.get('page', '?')})\n{d.page_content}")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"\n\n---\n\n".join(out)</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TOOLS = [get_stock_price, get_stock_news, search_financial_documents]</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 6b. Wraps the retriever as a tool. TOOLS is imported by the agent.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agent.py (ReAct agent)</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SYSTEM_PROMPT = """You are a personal investment research assistant.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For EVERY question:</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1. Decide: LIVE data, STATIC document data, or BOTH.</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2. Call get_stock_price / get_stock_news (live) and/or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search_financial_documents (documents). Both when needed.</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3. Combine into ONE grounded answer. Never invent numbers.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4. Label every number with source + unit: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"(live market, INR per share)" or "(annual report, p.X, INR crores)".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5. No personalized advice. End with: "This is not personalized financial advice."</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llm = ChatOllama(model="llama3.1", temperature=0)</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agent = create_agent(model=llm, tools=TOOLS, system_prompt=SYSTEM_PROMPT)</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ask(messages):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agent.invoke({"messages": messages})["messages"][-1].content</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 8. Prompt shortened for the slide; the full version is in agent.py.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app.py (Gradio)</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import gradio as gr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from agent import ask</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DISCLAIMER = "Not personalized financial advice. Educational use only."</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def respond(message, history):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msgs = [{"role": h["role"], "content": h["content"]} for h in history]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msgs.append({"role": "user", "content": message})</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return ask(msgs)</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with gr.Blocks(title="Investment Research Agent") as demo:</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gr.Markdown("# Personal Investment Research Agent")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gr.Markdown(DISCLAIMER)</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gr.ChatInterface(respond, type="messages")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gr.Markdown(DISCLAIMER)</a:t>
            </a:r>
            <a:endParaRPr lang="en-US" sz="1100" dirty="0"/>
          </a:p>
          <a:p>
            <a:pPr indent="0" marL="0">
              <a:spcAft>
                <a:spcPts val="200"/>
              </a:spcAft>
              <a:buNone/>
            </a:pP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demo.launch()</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Step 9. Launch with: python app.py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mj-lt" pitchFamily="34" charset="0"/>
                <a:ea typeface="+mj-lt" pitchFamily="34" charset="-122"/>
                <a:cs typeface="+mj-lt" pitchFamily="34" charset="-120"/>
              </a:rPr>
              <a:t>Code: MCP server and client</a:t>
            </a:r>
            <a:endParaRPr lang="en-US" sz="3200" dirty="0"/>
          </a:p>
        </p:txBody>
      </p:sp>
      <p:sp>
        <p:nvSpPr>
          <p:cNvPr id="3" name="code-card"/>
          <p:cNvSpPr/>
          <p:nvPr/>
        </p:nvSpPr>
        <p:spPr>
          <a:xfrm>
            <a:off x="457200" y="1143000"/>
            <a:ext cx="8229600" cy="3291840"/>
          </a:xfrm>
          <a:prstGeom prst="roundRect">
            <a:avLst>
              <a:gd name="adj" fmla="val 2778"/>
            </a:avLst>
          </a:prstGeom>
          <a:solidFill>
            <a:schemeClr val="tx1"/>
          </a:solidFill>
          <a:ln/>
        </p:spPr>
      </p:sp>
      <p:sp>
        <p:nvSpPr>
          <p:cNvPr id="4" name="Text 2"/>
          <p:cNvSpPr txBox="1"/>
          <p:nvPr/>
        </p:nvSpPr>
        <p:spPr>
          <a:xfrm>
            <a:off x="640080" y="1280160"/>
            <a:ext cx="7863840" cy="3017520"/>
          </a:xfrm>
          <a:prstGeom prst="rect">
            <a:avLst/>
          </a:prstGeom>
          <a:noFill/>
          <a:ln/>
        </p:spPr>
        <p:txBody>
          <a:bodyPr wrap="square" lIns="0" tIns="0" rIns="0" bIns="0" rtlCol="0" anchor="t"/>
          <a:lstStyle/>
          <a:p>
            <a:pPr indent="0" marL="0">
              <a:spcAft>
                <a:spcPts val="200"/>
              </a:spcAft>
              <a:buNone/>
            </a:pPr>
            <a:r>
              <a:rPr lang="en-US" sz="1100" dirty="0">
                <a:solidFill>
                  <a:schemeClr val="accent6"/>
                </a:solidFill>
                <a:latin typeface="Courier New" pitchFamily="34" charset="0"/>
                <a:ea typeface="Courier New" pitchFamily="34" charset="-122"/>
                <a:cs typeface="Courier New" pitchFamily="34" charset="-120"/>
              </a:rPr>
              <a:t># mcp_server.py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mcp = FastMCP("finance-tools", port=8001)</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for t in (get_stock_price, get_stock_news, search_financial_documents):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mcp.tool(name=t.name, description=t.description)(t.func)</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mcp.run(transport="streamable-http")</a:t>
            </a:r>
            <a:endParaRPr lang="en-US" sz="1100" dirty="0"/>
          </a:p>
          <a:p>
            <a:pPr indent="0" marL="0">
              <a:spcAft>
                <a:spcPts val="200"/>
              </a:spcAft>
              <a:buNone/>
            </a:pPr>
            <a:endParaRPr lang="en-US" sz="1100" dirty="0"/>
          </a:p>
          <a:p>
            <a:pPr indent="0" marL="0">
              <a:spcAft>
                <a:spcPts val="200"/>
              </a:spcAft>
              <a:buNone/>
            </a:pPr>
            <a:r>
              <a:rPr lang="en-US" sz="1100" dirty="0">
                <a:solidFill>
                  <a:schemeClr val="accent6"/>
                </a:solidFill>
                <a:latin typeface="Courier New" pitchFamily="34" charset="0"/>
                <a:ea typeface="Courier New" pitchFamily="34" charset="-122"/>
                <a:cs typeface="Courier New" pitchFamily="34" charset="-120"/>
              </a:rPr>
              <a:t># agent_mcp.py</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client = MultiServerMCPClient({"finance": {</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"url": "http://localhost:8001/mcp", "transport": "streamable_http"}})</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tools = await client.get_tools()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agent = create_agent(ChatOllama(model="llama3.1", temperature=0), tools,</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system_prompt=SYSTEM_PROMPT)</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res = await agent.ainvoke({"messages": [{"role": "user", "content": question}]})</a:t>
            </a:r>
            <a:endParaRPr lang="en-US" sz="1100" dirty="0"/>
          </a:p>
        </p:txBody>
      </p:sp>
      <p:sp>
        <p:nvSpPr>
          <p:cNvPr id="5" name="Text 3"/>
          <p:cNvSpPr txBox="1"/>
          <p:nvPr/>
        </p:nvSpPr>
        <p:spPr>
          <a:xfrm>
            <a:off x="457200" y="4498848"/>
            <a:ext cx="7680960" cy="274320"/>
          </a:xfrm>
          <a:prstGeom prst="rect">
            <a:avLst/>
          </a:prstGeom>
          <a:noFill/>
          <a:ln/>
        </p:spPr>
        <p:txBody>
          <a:bodyPr wrap="square" lIns="0" tIns="0" rIns="0" bIns="0" rtlCol="0" anchor="t"/>
          <a:lstStyle/>
          <a:p>
            <a:pPr indent="0" marL="0">
              <a:buNone/>
            </a:pPr>
            <a:r>
              <a:rPr lang="en-US" sz="1200" dirty="0">
                <a:solidFill>
                  <a:schemeClr val="accent5"/>
                </a:solidFill>
              </a:rPr>
              <a:t>Bonus. Server on port 8001; the agent loads the tools at runtime. Simplified excerpt.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1234440"/>
            <a:ext cx="5486400" cy="1554480"/>
          </a:xfrm>
          <a:prstGeom prst="rect">
            <a:avLst/>
          </a:prstGeom>
          <a:noFill/>
          <a:ln/>
        </p:spPr>
        <p:txBody>
          <a:bodyPr wrap="square" lIns="0" tIns="0" rIns="0" bIns="0" rtlCol="0" anchor="t"/>
          <a:lstStyle/>
          <a:p>
            <a:pPr algn="l" indent="0" marL="0">
              <a:buNone/>
            </a:pPr>
            <a:r>
              <a:rPr lang="en-US" sz="3800" b="1" dirty="0">
                <a:solidFill>
                  <a:schemeClr val="bg1"/>
                </a:solidFill>
                <a:latin typeface="+mj-lt" pitchFamily="34" charset="0"/>
                <a:ea typeface="+mj-lt" pitchFamily="34" charset="-122"/>
                <a:cs typeface="+mj-lt" pitchFamily="34" charset="-120"/>
              </a:rPr>
              <a:t>Thank you!</a:t>
            </a:r>
            <a:endParaRPr lang="en-US" sz="3800" dirty="0"/>
          </a:p>
        </p:txBody>
      </p:sp>
      <p:sp>
        <p:nvSpPr>
          <p:cNvPr id="3" name="Text 1"/>
          <p:cNvSpPr txBox="1"/>
          <p:nvPr/>
        </p:nvSpPr>
        <p:spPr>
          <a:xfrm>
            <a:off x="548640" y="3017520"/>
            <a:ext cx="5303520" cy="731520"/>
          </a:xfrm>
          <a:prstGeom prst="rect">
            <a:avLst/>
          </a:prstGeom>
          <a:noFill/>
          <a:ln/>
        </p:spPr>
        <p:txBody>
          <a:bodyPr wrap="square" lIns="0" tIns="0" rIns="0" bIns="0" rtlCol="0" anchor="t"/>
          <a:lstStyle/>
          <a:p>
            <a:pPr indent="0" marL="0">
              <a:buNone/>
            </a:pPr>
            <a:r>
              <a:rPr lang="en-US" sz="1600" dirty="0">
                <a:solidFill>
                  <a:schemeClr val="accent6"/>
                </a:solidFill>
              </a:rPr>
              <a:t>Live demo: compare reported net profit with today's price of RELIANCE.NS</a:t>
            </a:r>
            <a:endParaRPr lang="en-US" sz="1600" dirty="0"/>
          </a:p>
        </p:txBody>
      </p:sp>
      <p:sp>
        <p:nvSpPr>
          <p:cNvPr id="4" name="Text 2"/>
          <p:cNvSpPr txBox="1"/>
          <p:nvPr/>
        </p:nvSpPr>
        <p:spPr>
          <a:xfrm>
            <a:off x="548640" y="3749040"/>
            <a:ext cx="5486400" cy="320040"/>
          </a:xfrm>
          <a:prstGeom prst="rect">
            <a:avLst/>
          </a:prstGeom>
          <a:noFill/>
          <a:ln/>
        </p:spPr>
        <p:txBody>
          <a:bodyPr wrap="square" lIns="0" tIns="0" rIns="0" bIns="0" rtlCol="0" anchor="t"/>
          <a:lstStyle/>
          <a:p>
            <a:pPr indent="0" marL="0">
              <a:buNone/>
            </a:pPr>
            <a:r>
              <a:rPr lang="en-US" sz="1800" b="1" dirty="0">
                <a:solidFill>
                  <a:schemeClr val="accent2"/>
                </a:solidFill>
              </a:rPr>
              <a:t>Team Krazy Coder</a:t>
            </a:r>
            <a:endParaRPr lang="en-US" sz="1800" dirty="0"/>
          </a:p>
        </p:txBody>
      </p:sp>
      <p:sp>
        <p:nvSpPr>
          <p:cNvPr id="5" name="Text 3"/>
          <p:cNvSpPr txBox="1"/>
          <p:nvPr/>
        </p:nvSpPr>
        <p:spPr>
          <a:xfrm>
            <a:off x="548640" y="4114800"/>
            <a:ext cx="5669280" cy="320040"/>
          </a:xfrm>
          <a:prstGeom prst="rect">
            <a:avLst/>
          </a:prstGeom>
          <a:noFill/>
          <a:ln/>
        </p:spPr>
        <p:txBody>
          <a:bodyPr wrap="square" lIns="0" tIns="0" rIns="0" bIns="0" rtlCol="0" anchor="t"/>
          <a:lstStyle/>
          <a:p>
            <a:pPr indent="0" marL="0">
              <a:buNone/>
            </a:pPr>
            <a:r>
              <a:rPr lang="en-US" sz="1400" dirty="0">
                <a:solidFill>
                  <a:schemeClr val="bg1"/>
                </a:solidFill>
              </a:rPr>
              <a:t>Tshewang Kinley Rigzin  ·  Adesh Singh  ·  Jigme Tenzin</a:t>
            </a:r>
            <a:endParaRPr lang="en-US" sz="1400" dirty="0"/>
          </a:p>
        </p:txBody>
      </p:sp>
      <p:sp>
        <p:nvSpPr>
          <p:cNvPr id="6" name="Text 4"/>
          <p:cNvSpPr txBox="1"/>
          <p:nvPr/>
        </p:nvSpPr>
        <p:spPr>
          <a:xfrm>
            <a:off x="548640" y="4572000"/>
            <a:ext cx="5943600" cy="274320"/>
          </a:xfrm>
          <a:prstGeom prst="rect">
            <a:avLst/>
          </a:prstGeom>
          <a:noFill/>
          <a:ln/>
        </p:spPr>
        <p:txBody>
          <a:bodyPr wrap="square" lIns="0" tIns="0" rIns="0" bIns="0" rtlCol="0" anchor="t"/>
          <a:lstStyle/>
          <a:p>
            <a:pPr indent="0" marL="0">
              <a:buNone/>
            </a:pPr>
            <a:r>
              <a:rPr lang="en-US" sz="1200" dirty="0">
                <a:solidFill>
                  <a:schemeClr val="accent6"/>
                </a:solidFill>
              </a:rPr>
              <a:t>Educational use only. Not personalized financial advice.</a:t>
            </a:r>
            <a:endParaRPr lang="en-US" sz="1200" dirty="0"/>
          </a:p>
        </p:txBody>
      </p:sp>
      <p:sp>
        <p:nvSpPr>
          <p:cNvPr id="7" name="end-circle"/>
          <p:cNvSpPr/>
          <p:nvPr/>
        </p:nvSpPr>
        <p:spPr>
          <a:xfrm>
            <a:off x="6675120" y="1280160"/>
            <a:ext cx="2011680" cy="2011680"/>
          </a:xfrm>
          <a:prstGeom prst="ellipse">
            <a:avLst/>
          </a:prstGeom>
          <a:solidFill>
            <a:schemeClr val="accent1"/>
          </a:solidFill>
          <a:ln/>
        </p:spPr>
      </p:sp>
      <p:pic>
        <p:nvPicPr>
          <p:cNvPr id="8" name="Image 0" descr="rocket icon">    </p:cNvPr>
          <p:cNvPicPr>
            <a:picLocks noChangeAspect="1"/>
          </p:cNvPicPr>
          <p:nvPr/>
        </p:nvPicPr>
        <p:blipFill>
          <a:blip r:embed="rId1"/>
          <a:stretch>
            <a:fillRect/>
          </a:stretch>
        </p:blipFill>
        <p:spPr>
          <a:xfrm>
            <a:off x="7269480" y="1874520"/>
            <a:ext cx="822960" cy="822960"/>
          </a:xfrm>
          <a:prstGeom prst="rect">
            <a:avLst/>
          </a:prstGeom>
        </p:spPr>
      </p:pic>
    </p:spTree>
  </p:cSld>
  <p:clrMapOvr>
    <a:masterClrMapping/>
  </p:clrMapOvr>
</p:sld>
</file>

<file path=ppt/theme/theme1.xml><?xml version="1.0" encoding="utf-8"?>
<a:theme xmlns:a="http://schemas.openxmlformats.org/drawingml/2006/main" name="InvestAgent">
  <a:themeElements>
    <a:clrScheme name="InvestAgent">
      <a:dk1>
        <a:srgbClr val="10201A"/>
      </a:dk1>
      <a:lt1>
        <a:srgbClr val="FFFFFF"/>
      </a:lt1>
      <a:dk2>
        <a:srgbClr val="0B3D2E"/>
      </a:dk2>
      <a:lt2>
        <a:srgbClr val="EAF4EF"/>
      </a:lt2>
      <a:accent1>
        <a:srgbClr val="1F7A5C"/>
      </a:accent1>
      <a:accent2>
        <a:srgbClr val="F2B134"/>
      </a:accent2>
      <a:accent3>
        <a:srgbClr val="2E9E7B"/>
      </a:accent3>
      <a:accent4>
        <a:srgbClr val="C0392B"/>
      </a:accent4>
      <a:accent5>
        <a:srgbClr val="5B7C99"/>
      </a:accent5>
      <a:accent6>
        <a:srgbClr val="8FD0B5"/>
      </a:accent6>
      <a:hlink>
        <a:srgbClr val="1F7A5C"/>
      </a:hlink>
      <a:folHlink>
        <a:srgbClr val="5B7C99"/>
      </a:folHlink>
    </a:clrScheme>
    <a:fontScheme name="Invest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Investment Research Agent</dc:title>
  <dc:subject>PptxGenJS Presentation</dc:subject>
  <dc:creator>Team Krazy Coder</dc:creator>
  <cp:lastModifiedBy>Team Krazy Coder</cp:lastModifiedBy>
  <cp:revision>1</cp:revision>
  <dcterms:created xsi:type="dcterms:W3CDTF">2026-10-13T18:16:56Z</dcterms:created>
  <dcterms:modified xsi:type="dcterms:W3CDTF">2026-10-13T18:16:56Z</dcterms:modified>
</cp:coreProperties>
</file>